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ora"/>
      <p:regular r:id="rId20"/>
      <p:bold r:id="rId21"/>
      <p:italic r:id="rId22"/>
      <p:boldItalic r:id="rId23"/>
    </p:embeddedFont>
    <p:embeddedFont>
      <p:font typeface="Old Standard TT"/>
      <p:regular r:id="rId24"/>
      <p:bold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regular.fntdata"/><Relationship Id="rId22" Type="http://schemas.openxmlformats.org/officeDocument/2006/relationships/font" Target="fonts/Lora-italic.fntdata"/><Relationship Id="rId21" Type="http://schemas.openxmlformats.org/officeDocument/2006/relationships/font" Target="fonts/Lora-bold.fntdata"/><Relationship Id="rId24" Type="http://schemas.openxmlformats.org/officeDocument/2006/relationships/font" Target="fonts/OldStandardTT-regular.fntdata"/><Relationship Id="rId23" Type="http://schemas.openxmlformats.org/officeDocument/2006/relationships/font" Target="fonts/Lor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italic.fntdata"/><Relationship Id="rId25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292a18229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5292a1822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5292a18229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5292a18229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292a18229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292a18229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5292a18229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5292a18229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292a18229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292a18229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292a18229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292a18229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292a18229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292a18229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292a18229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292a18229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292a18229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292a18229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292a18229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292a18229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292a18229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292a18229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Species used in this study</a:t>
            </a:r>
            <a:r>
              <a:rPr i="1" lang="en" sz="1300">
                <a:solidFill>
                  <a:srgbClr val="2222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: Ramazzottius varieornatus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292a18229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292a18229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5292a18229_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5292a18229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292a18229_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292a18229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gif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Tardigrades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7657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Physics 135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00" y="221275"/>
            <a:ext cx="3759701" cy="188183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8000" fadeDir="5400012" kx="0" rotWithShape="0" algn="bl" stPos="0" sy="-100000" ky="0"/>
          </a:effectLst>
        </p:spPr>
      </p:pic>
      <p:sp>
        <p:nvSpPr>
          <p:cNvPr id="62" name="Google Shape;62;p13"/>
          <p:cNvSpPr txBox="1"/>
          <p:nvPr/>
        </p:nvSpPr>
        <p:spPr>
          <a:xfrm>
            <a:off x="4718700" y="2103100"/>
            <a:ext cx="29163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accen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Isaac Breinyn</a:t>
            </a:r>
            <a:endParaRPr sz="24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accen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Ryan Erickson</a:t>
            </a:r>
            <a:endParaRPr sz="24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accen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Sebastian Gonzalez</a:t>
            </a:r>
            <a:endParaRPr sz="24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accen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Joey Penn</a:t>
            </a:r>
            <a:endParaRPr sz="2400">
              <a:solidFill>
                <a:schemeClr val="accen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60950" y="445025"/>
            <a:ext cx="4774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Tardigrades (Water Bears)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124" y="120500"/>
            <a:ext cx="3680975" cy="12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386" y="1476125"/>
            <a:ext cx="5480714" cy="30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49846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Desiccation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71600"/>
            <a:ext cx="31671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Tun State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Metabolism &lt; .01%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Water content ~1%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Trehalose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Disaccharide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Very low levels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IDPs</a:t>
            </a:r>
            <a:endParaRPr sz="1800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274" y="453500"/>
            <a:ext cx="5253274" cy="423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Anhydrobiosis</a:t>
            </a:r>
            <a:r>
              <a:rPr lang="en"/>
              <a:t> and TDPs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41624" l="0" r="0" t="30391"/>
          <a:stretch/>
        </p:blipFill>
        <p:spPr>
          <a:xfrm>
            <a:off x="4639875" y="153025"/>
            <a:ext cx="4450425" cy="19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-6022" r="0" t="0"/>
          <a:stretch/>
        </p:blipFill>
        <p:spPr>
          <a:xfrm>
            <a:off x="4374275" y="2129375"/>
            <a:ext cx="4676875" cy="24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4639875" y="4557975"/>
            <a:ext cx="4844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Boothby, et. al. Tardigrades Use Intrinsically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Disordered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Proteins To Survive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Desiccation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 2018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11700" y="1058225"/>
            <a:ext cx="4284900" cy="3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●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Preconditioned vs sudden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Protectant?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●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Protein families thought to encode IDPs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CAHS (Cytosolic)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○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SAHS (Secreted)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●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TDPs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●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IDPs ~ stress resistance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●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Stress → TDP production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Old Standard TT"/>
              <a:buChar char="●"/>
            </a:pPr>
            <a:r>
              <a:rPr lang="en" sz="2200">
                <a:latin typeface="Old Standard TT"/>
                <a:ea typeface="Old Standard TT"/>
                <a:cs typeface="Old Standard TT"/>
                <a:sym typeface="Old Standard TT"/>
              </a:rPr>
              <a:t>RNA interference (RNAi)</a:t>
            </a:r>
            <a:endParaRPr sz="22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624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TDPs in other Organisms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68080" l="0" r="0" t="0"/>
          <a:stretch/>
        </p:blipFill>
        <p:spPr>
          <a:xfrm>
            <a:off x="311700" y="975674"/>
            <a:ext cx="4098825" cy="317587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11700" y="4331825"/>
            <a:ext cx="4844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Boothby, et. al. Tardigrades Use Intrinsically Disordered Proteins To Survive Desiccation 2018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32586" l="0" r="0" t="35494"/>
          <a:stretch/>
        </p:blipFill>
        <p:spPr>
          <a:xfrm>
            <a:off x="4663675" y="975665"/>
            <a:ext cx="4098835" cy="31758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 flipH="1">
            <a:off x="6291400" y="3827888"/>
            <a:ext cx="735000" cy="613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7026400" y="4151538"/>
            <a:ext cx="20550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Common IDP, but no increase in desiccation tolerance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196625" y="2379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Mechanism (vitrification)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0" r="0" t="68549"/>
          <a:stretch/>
        </p:blipFill>
        <p:spPr>
          <a:xfrm>
            <a:off x="428013" y="992488"/>
            <a:ext cx="8287981" cy="3158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196625" y="4400850"/>
            <a:ext cx="4844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Boothby, et. al. Tardigrades Use Intrinsically Disordered Proteins To Survive Desiccation 2018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Pressures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71600"/>
            <a:ext cx="41997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Up to 13 hours of 7.5 GPa pressure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Equivalent to pressure at 180km below Earth’s Surface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Up to 10 days of extremely low pressure (vacuum)</a:t>
            </a:r>
            <a:endParaRPr sz="20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475" y="445028"/>
            <a:ext cx="3351274" cy="18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6477" y="2487150"/>
            <a:ext cx="3351275" cy="248116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0" y="4403700"/>
            <a:ext cx="4564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Ono</a:t>
            </a: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et. al.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Effect of high hydrostatic pressure on to life of the tiny animal tardigrade (2008)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Temperatures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71600"/>
            <a:ext cx="4260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Below -273</a:t>
            </a:r>
            <a:r>
              <a:rPr lang="en" sz="2000">
                <a:solidFill>
                  <a:srgbClr val="000000"/>
                </a:solidFill>
              </a:rPr>
              <a:t>°C and above 90</a:t>
            </a:r>
            <a:r>
              <a:rPr lang="en" sz="2000"/>
              <a:t>°C in Tun state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Below -196</a:t>
            </a:r>
            <a:r>
              <a:rPr lang="en" sz="2000"/>
              <a:t>°C and above 120°C for short periods of time (&lt;30 min) in normal state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Possibility to survive near-zero temperatures during interplanetary travel</a:t>
            </a:r>
            <a:endParaRPr sz="20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47800"/>
            <a:ext cx="4267200" cy="28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0" y="4403700"/>
            <a:ext cx="46521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Horikawa</a:t>
            </a: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, et. al.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Survival of Tardigrades in Extreme Environments: A Model Animal for Astrobiology (2011)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53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Tardigrades survive space </a:t>
            </a:r>
            <a:r>
              <a:rPr b="1" lang="en"/>
              <a:t>vacuum and radiation</a:t>
            </a:r>
            <a:endParaRPr b="1"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50" y="666425"/>
            <a:ext cx="4299625" cy="3874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271425" y="4494000"/>
            <a:ext cx="3900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Jonsson et al. </a:t>
            </a: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Tardigrades survive exposure to space in low Earth orbit (2008)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349850" y="760288"/>
            <a:ext cx="4212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Experiment: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Orbit radius: 258-281 km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Period of experiment: 10 days 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4349850" y="2280400"/>
            <a:ext cx="47217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Conclusions: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Tardigrades</a:t>
            </a: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 survived in vacuum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M. Tardigradum survives vacuum + radiation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ld Standard TT"/>
              <a:buChar char="●"/>
            </a:pP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Mechanism of survival remains a </a:t>
            </a: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mystery</a:t>
            </a:r>
            <a:r>
              <a:rPr lang="en" sz="1800">
                <a:latin typeface="Old Standard TT"/>
                <a:ea typeface="Old Standard TT"/>
                <a:cs typeface="Old Standard TT"/>
                <a:sym typeface="Old Standard TT"/>
              </a:rPr>
              <a:t>!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120825" y="349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DNA repair and protection in </a:t>
            </a:r>
            <a:r>
              <a:rPr lang="en"/>
              <a:t>Tardigrades</a:t>
            </a:r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3">
            <a:alphaModFix/>
          </a:blip>
          <a:srcRect b="33069" l="0" r="0" t="33231"/>
          <a:stretch/>
        </p:blipFill>
        <p:spPr>
          <a:xfrm>
            <a:off x="263125" y="746800"/>
            <a:ext cx="2240590" cy="143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67227"/>
          <a:stretch/>
        </p:blipFill>
        <p:spPr>
          <a:xfrm>
            <a:off x="2569825" y="746800"/>
            <a:ext cx="2139675" cy="1433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120825" y="4128875"/>
            <a:ext cx="51837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Horikawa et al. </a:t>
            </a:r>
            <a:r>
              <a:rPr i="1" lang="en">
                <a:latin typeface="Old Standard TT"/>
                <a:ea typeface="Old Standard TT"/>
                <a:cs typeface="Old Standard TT"/>
                <a:sym typeface="Old Standard TT"/>
              </a:rPr>
              <a:t>Analysis of DNA repair and Protection in the Tardigrade Ramazzottius varieornatus and Hypsibius dujardini after exposure to UVC  Radiation. PLOS communication. 2013</a:t>
            </a:r>
            <a:endParaRPr i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4882300" y="874000"/>
            <a:ext cx="3847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Photolyases gene “phrA” responsible for DNA repair network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●"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CPD DNA Photolyase breaks thymine dimers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46132"/>
          <a:stretch/>
        </p:blipFill>
        <p:spPr>
          <a:xfrm>
            <a:off x="263125" y="2278650"/>
            <a:ext cx="4446375" cy="182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8550" y="1980941"/>
            <a:ext cx="3272877" cy="256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0" y="0"/>
            <a:ext cx="9144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ld Standard TT"/>
                <a:ea typeface="Old Standard TT"/>
                <a:cs typeface="Old Standard TT"/>
                <a:sym typeface="Old Standard TT"/>
              </a:rPr>
              <a:t>Damage Suppressor Protein is a novel mechanism for </a:t>
            </a:r>
            <a:r>
              <a:rPr b="1" lang="en" sz="2400">
                <a:latin typeface="Old Standard TT"/>
                <a:ea typeface="Old Standard TT"/>
                <a:cs typeface="Old Standard TT"/>
                <a:sym typeface="Old Standard TT"/>
              </a:rPr>
              <a:t>survival</a:t>
            </a:r>
            <a:r>
              <a:rPr b="1" lang="en" sz="2400">
                <a:latin typeface="Old Standard TT"/>
                <a:ea typeface="Old Standard TT"/>
                <a:cs typeface="Old Standard TT"/>
                <a:sym typeface="Old Standard TT"/>
              </a:rPr>
              <a:t>  </a:t>
            </a:r>
            <a:endParaRPr b="1" sz="24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41478" l="29169" r="31209" t="20773"/>
          <a:stretch/>
        </p:blipFill>
        <p:spPr>
          <a:xfrm>
            <a:off x="652975" y="601875"/>
            <a:ext cx="4039574" cy="21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0" y="4279525"/>
            <a:ext cx="56457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Hashimoto et al. </a:t>
            </a:r>
            <a:r>
              <a:rPr i="1" lang="en">
                <a:latin typeface="Old Standard TT"/>
                <a:ea typeface="Old Standard TT"/>
                <a:cs typeface="Old Standard TT"/>
                <a:sym typeface="Old Standard TT"/>
              </a:rPr>
              <a:t>Extremotolerant tardigrade genome and improved radiotolerance of human cultured cells by tardigrade-unique protein.</a:t>
            </a:r>
            <a:endParaRPr i="1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Nature Communications. 2016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70452"/>
          <a:stretch/>
        </p:blipFill>
        <p:spPr>
          <a:xfrm>
            <a:off x="652975" y="2845175"/>
            <a:ext cx="4039575" cy="143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5">
            <a:alphaModFix/>
          </a:blip>
          <a:srcRect b="31782" l="0" r="0" t="0"/>
          <a:stretch/>
        </p:blipFill>
        <p:spPr>
          <a:xfrm>
            <a:off x="5123150" y="601875"/>
            <a:ext cx="3878151" cy="360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Desiccation - using CAHS and SAHS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dry-tolerant proteins are intrinsically disordered in water but develop secondary structures in the dehydrated state that allow them to stabilize DNA, proteins, and cell membranes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survive extreme pressures and temperatures using desiccation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DSUP protects from radiation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Combined with desiccation allows for space survival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826" y="3116575"/>
            <a:ext cx="2873475" cy="16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71600"/>
            <a:ext cx="46365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Tardigrades could travel through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Possibly arrived from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Natural model for human space travel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DSUP protein mixed with human cell proved to protect human DNA from radiation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Cryosleep by desiccation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of DSUP protein in chemotherapy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200" y="1533000"/>
            <a:ext cx="3998774" cy="20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68477"/>
          <a:stretch/>
        </p:blipFill>
        <p:spPr>
          <a:xfrm>
            <a:off x="54300" y="1577225"/>
            <a:ext cx="4898424" cy="288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32143" l="0" r="0" t="0"/>
          <a:stretch/>
        </p:blipFill>
        <p:spPr>
          <a:xfrm>
            <a:off x="5085725" y="519600"/>
            <a:ext cx="3473375" cy="439814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0" y="0"/>
            <a:ext cx="69015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ld Standard TT"/>
                <a:ea typeface="Old Standard TT"/>
                <a:cs typeface="Old Standard TT"/>
                <a:sym typeface="Old Standard TT"/>
              </a:rPr>
              <a:t>Supplementary slides: Dsup needs to be colocalized with DNA in order to protect</a:t>
            </a:r>
            <a:endParaRPr sz="18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