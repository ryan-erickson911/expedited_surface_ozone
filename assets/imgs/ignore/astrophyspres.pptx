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ACCE56C1-5E7A-42C8-8520-CFB4C9CAC597}">
  <a:tblStyle styleId="{ACCE56C1-5E7A-42C8-8520-CFB4C9CAC59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Google Shape;57;g49c1bffd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9c1bffd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49c1bffd5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49c1bffd5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Clr>
                <a:schemeClr val="dk1"/>
              </a:buClr>
              <a:buSzPts val="1100"/>
              <a:buFont typeface="Arial"/>
              <a:buNone/>
            </a:pPr>
            <a:r>
              <a:rPr lang="en" sz="1200">
                <a:solidFill>
                  <a:srgbClr val="222222"/>
                </a:solidFill>
                <a:latin typeface="Times New Roman"/>
                <a:ea typeface="Times New Roman"/>
                <a:cs typeface="Times New Roman"/>
                <a:sym typeface="Times New Roman"/>
              </a:rPr>
              <a:t>the largest objects in the asteroid belt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49c1bffd5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49c1bffd5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g4a5b3a759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4a5b3a759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 dec, compared to what wasn’t on Star Atlas with closest RA and Dec; RA error = 0.021 Dec Error = 0.053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Google Shape;84;g49c1bffd5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49c1bffd5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49c1bffd5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49c1bffd5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4a5dd2d08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4a5dd2d08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 name="Shape 102"/>
        <p:cNvGrpSpPr/>
        <p:nvPr/>
      </p:nvGrpSpPr>
      <p:grpSpPr>
        <a:xfrm>
          <a:off x="0" y="0"/>
          <a:ext cx="0" cy="0"/>
          <a:chOff x="0" y="0"/>
          <a:chExt cx="0" cy="0"/>
        </a:xfrm>
      </p:grpSpPr>
      <p:sp>
        <p:nvSpPr>
          <p:cNvPr id="103" name="Google Shape;103;g4a5b3a7597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4a5b3a7597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4a5dd2d0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4a5dd2d0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 name="Shape 114"/>
        <p:cNvGrpSpPr/>
        <p:nvPr/>
      </p:nvGrpSpPr>
      <p:grpSpPr>
        <a:xfrm>
          <a:off x="0" y="0"/>
          <a:ext cx="0" cy="0"/>
          <a:chOff x="0" y="0"/>
          <a:chExt cx="0" cy="0"/>
        </a:xfrm>
      </p:grpSpPr>
      <p:sp>
        <p:nvSpPr>
          <p:cNvPr id="115" name="Google Shape;115;g4a5dd2d08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4a5dd2d08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Google Shape;123;g4a5dd2d08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4a5dd2d08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 name="Shape 129"/>
        <p:cNvGrpSpPr/>
        <p:nvPr/>
      </p:nvGrpSpPr>
      <p:grpSpPr>
        <a:xfrm>
          <a:off x="0" y="0"/>
          <a:ext cx="0" cy="0"/>
          <a:chOff x="0" y="0"/>
          <a:chExt cx="0" cy="0"/>
        </a:xfrm>
      </p:grpSpPr>
      <p:sp>
        <p:nvSpPr>
          <p:cNvPr id="130" name="Google Shape;130;g4a5dd2d08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4a5dd2d08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g4a5dd2d08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4a5dd2d08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1" name="Shape 141"/>
        <p:cNvGrpSpPr/>
        <p:nvPr/>
      </p:nvGrpSpPr>
      <p:grpSpPr>
        <a:xfrm>
          <a:off x="0" y="0"/>
          <a:ext cx="0" cy="0"/>
          <a:chOff x="0" y="0"/>
          <a:chExt cx="0" cy="0"/>
        </a:xfrm>
      </p:grpSpPr>
      <p:sp>
        <p:nvSpPr>
          <p:cNvPr id="142" name="Google Shape;142;g4a5dd2d08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4a5dd2d08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4a5dd2d08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4a5dd2d08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g4a5dd2d08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a5dd2d08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g4a5dd2d08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4a5dd2d08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4" name="Shape 174"/>
        <p:cNvGrpSpPr/>
        <p:nvPr/>
      </p:nvGrpSpPr>
      <p:grpSpPr>
        <a:xfrm>
          <a:off x="0" y="0"/>
          <a:ext cx="0" cy="0"/>
          <a:chOff x="0" y="0"/>
          <a:chExt cx="0" cy="0"/>
        </a:xfrm>
      </p:grpSpPr>
      <p:sp>
        <p:nvSpPr>
          <p:cNvPr id="175" name="Google Shape;175;g4a5dd2d08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4a5dd2d08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g4a6669a8dc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4a6669a8d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g4a5dd2d2b2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4a5dd2d2b2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7" name="Shape 197"/>
        <p:cNvGrpSpPr/>
        <p:nvPr/>
      </p:nvGrpSpPr>
      <p:grpSpPr>
        <a:xfrm>
          <a:off x="0" y="0"/>
          <a:ext cx="0" cy="0"/>
          <a:chOff x="0" y="0"/>
          <a:chExt cx="0" cy="0"/>
        </a:xfrm>
      </p:grpSpPr>
      <p:sp>
        <p:nvSpPr>
          <p:cNvPr id="198" name="Google Shape;198;g49c1bffd5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49c1bffd5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4" name="Shape 204"/>
        <p:cNvGrpSpPr/>
        <p:nvPr/>
      </p:nvGrpSpPr>
      <p:grpSpPr>
        <a:xfrm>
          <a:off x="0" y="0"/>
          <a:ext cx="0" cy="0"/>
          <a:chOff x="0" y="0"/>
          <a:chExt cx="0" cy="0"/>
        </a:xfrm>
      </p:grpSpPr>
      <p:sp>
        <p:nvSpPr>
          <p:cNvPr id="205" name="Google Shape;205;g4a5dd2d08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4a5dd2d08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4a5dd2d2b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4a5dd2d2b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g4a5dd2d08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4a5dd2d08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3" name="Shape 223"/>
        <p:cNvGrpSpPr/>
        <p:nvPr/>
      </p:nvGrpSpPr>
      <p:grpSpPr>
        <a:xfrm>
          <a:off x="0" y="0"/>
          <a:ext cx="0" cy="0"/>
          <a:chOff x="0" y="0"/>
          <a:chExt cx="0" cy="0"/>
        </a:xfrm>
      </p:grpSpPr>
      <p:sp>
        <p:nvSpPr>
          <p:cNvPr id="224" name="Google Shape;224;g4a5dd2d08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4a5dd2d08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0" name="Shape 230"/>
        <p:cNvGrpSpPr/>
        <p:nvPr/>
      </p:nvGrpSpPr>
      <p:grpSpPr>
        <a:xfrm>
          <a:off x="0" y="0"/>
          <a:ext cx="0" cy="0"/>
          <a:chOff x="0" y="0"/>
          <a:chExt cx="0" cy="0"/>
        </a:xfrm>
      </p:grpSpPr>
      <p:sp>
        <p:nvSpPr>
          <p:cNvPr id="231" name="Google Shape;231;g4a5dd2d08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4a5dd2d08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7" name="Shape 237"/>
        <p:cNvGrpSpPr/>
        <p:nvPr/>
      </p:nvGrpSpPr>
      <p:grpSpPr>
        <a:xfrm>
          <a:off x="0" y="0"/>
          <a:ext cx="0" cy="0"/>
          <a:chOff x="0" y="0"/>
          <a:chExt cx="0" cy="0"/>
        </a:xfrm>
      </p:grpSpPr>
      <p:sp>
        <p:nvSpPr>
          <p:cNvPr id="238" name="Google Shape;238;g4a5ee3451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4a5ee3451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1600"/>
              </a:spcBef>
              <a:spcAft>
                <a:spcPts val="0"/>
              </a:spcAft>
              <a:buClr>
                <a:schemeClr val="dk1"/>
              </a:buClr>
              <a:buSzPts val="1400"/>
              <a:buChar char="○"/>
              <a:defRPr>
                <a:solidFill>
                  <a:schemeClr val="dk1"/>
                </a:solidFill>
              </a:defRPr>
            </a:lvl2pPr>
            <a:lvl3pPr indent="-317500" lvl="2" marL="1371600">
              <a:spcBef>
                <a:spcPts val="1600"/>
              </a:spcBef>
              <a:spcAft>
                <a:spcPts val="0"/>
              </a:spcAft>
              <a:buClr>
                <a:schemeClr val="dk1"/>
              </a:buClr>
              <a:buSzPts val="1400"/>
              <a:buChar char="■"/>
              <a:defRPr>
                <a:solidFill>
                  <a:schemeClr val="dk1"/>
                </a:solidFill>
              </a:defRPr>
            </a:lvl3pPr>
            <a:lvl4pPr indent="-317500" lvl="3" marL="1828800">
              <a:spcBef>
                <a:spcPts val="1600"/>
              </a:spcBef>
              <a:spcAft>
                <a:spcPts val="0"/>
              </a:spcAft>
              <a:buClr>
                <a:schemeClr val="dk1"/>
              </a:buClr>
              <a:buSzPts val="1400"/>
              <a:buChar char="●"/>
              <a:defRPr>
                <a:solidFill>
                  <a:schemeClr val="dk1"/>
                </a:solidFill>
              </a:defRPr>
            </a:lvl4pPr>
            <a:lvl5pPr indent="-317500" lvl="4" marL="2286000">
              <a:spcBef>
                <a:spcPts val="1600"/>
              </a:spcBef>
              <a:spcAft>
                <a:spcPts val="0"/>
              </a:spcAft>
              <a:buClr>
                <a:schemeClr val="dk1"/>
              </a:buClr>
              <a:buSzPts val="1400"/>
              <a:buChar char="○"/>
              <a:defRPr>
                <a:solidFill>
                  <a:schemeClr val="dk1"/>
                </a:solidFill>
              </a:defRPr>
            </a:lvl5pPr>
            <a:lvl6pPr indent="-317500" lvl="5" marL="2743200">
              <a:spcBef>
                <a:spcPts val="1600"/>
              </a:spcBef>
              <a:spcAft>
                <a:spcPts val="0"/>
              </a:spcAft>
              <a:buClr>
                <a:schemeClr val="dk1"/>
              </a:buClr>
              <a:buSzPts val="1400"/>
              <a:buChar char="■"/>
              <a:defRPr>
                <a:solidFill>
                  <a:schemeClr val="dk1"/>
                </a:solidFill>
              </a:defRPr>
            </a:lvl6pPr>
            <a:lvl7pPr indent="-317500" lvl="6" marL="3200400">
              <a:spcBef>
                <a:spcPts val="1600"/>
              </a:spcBef>
              <a:spcAft>
                <a:spcPts val="0"/>
              </a:spcAft>
              <a:buClr>
                <a:schemeClr val="dk1"/>
              </a:buClr>
              <a:buSzPts val="1400"/>
              <a:buChar char="●"/>
              <a:defRPr>
                <a:solidFill>
                  <a:schemeClr val="dk1"/>
                </a:solidFill>
              </a:defRPr>
            </a:lvl7pPr>
            <a:lvl8pPr indent="-317500" lvl="7" marL="3657600">
              <a:spcBef>
                <a:spcPts val="1600"/>
              </a:spcBef>
              <a:spcAft>
                <a:spcPts val="0"/>
              </a:spcAft>
              <a:buClr>
                <a:schemeClr val="dk1"/>
              </a:buClr>
              <a:buSzPts val="1400"/>
              <a:buChar char="○"/>
              <a:defRPr>
                <a:solidFill>
                  <a:schemeClr val="dk1"/>
                </a:solidFill>
              </a:defRPr>
            </a:lvl8pPr>
            <a:lvl9pPr indent="-317500" lvl="8" marL="411480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1600"/>
              </a:spcBef>
              <a:spcAft>
                <a:spcPts val="0"/>
              </a:spcAft>
              <a:buClr>
                <a:schemeClr val="lt2"/>
              </a:buClr>
              <a:buSzPts val="1400"/>
              <a:buChar char="○"/>
              <a:defRPr>
                <a:solidFill>
                  <a:schemeClr val="lt2"/>
                </a:solidFill>
              </a:defRPr>
            </a:lvl2pPr>
            <a:lvl3pPr indent="-317500" lvl="2" marL="1371600">
              <a:lnSpc>
                <a:spcPct val="115000"/>
              </a:lnSpc>
              <a:spcBef>
                <a:spcPts val="1600"/>
              </a:spcBef>
              <a:spcAft>
                <a:spcPts val="0"/>
              </a:spcAft>
              <a:buClr>
                <a:schemeClr val="lt2"/>
              </a:buClr>
              <a:buSzPts val="1400"/>
              <a:buChar char="■"/>
              <a:defRPr>
                <a:solidFill>
                  <a:schemeClr val="lt2"/>
                </a:solidFill>
              </a:defRPr>
            </a:lvl3pPr>
            <a:lvl4pPr indent="-317500" lvl="3" marL="1828800">
              <a:lnSpc>
                <a:spcPct val="115000"/>
              </a:lnSpc>
              <a:spcBef>
                <a:spcPts val="1600"/>
              </a:spcBef>
              <a:spcAft>
                <a:spcPts val="0"/>
              </a:spcAft>
              <a:buClr>
                <a:schemeClr val="lt2"/>
              </a:buClr>
              <a:buSzPts val="1400"/>
              <a:buChar char="●"/>
              <a:defRPr>
                <a:solidFill>
                  <a:schemeClr val="lt2"/>
                </a:solidFill>
              </a:defRPr>
            </a:lvl4pPr>
            <a:lvl5pPr indent="-317500" lvl="4" marL="2286000">
              <a:lnSpc>
                <a:spcPct val="115000"/>
              </a:lnSpc>
              <a:spcBef>
                <a:spcPts val="1600"/>
              </a:spcBef>
              <a:spcAft>
                <a:spcPts val="0"/>
              </a:spcAft>
              <a:buClr>
                <a:schemeClr val="lt2"/>
              </a:buClr>
              <a:buSzPts val="1400"/>
              <a:buChar char="○"/>
              <a:defRPr>
                <a:solidFill>
                  <a:schemeClr val="lt2"/>
                </a:solidFill>
              </a:defRPr>
            </a:lvl5pPr>
            <a:lvl6pPr indent="-317500" lvl="5" marL="2743200">
              <a:lnSpc>
                <a:spcPct val="115000"/>
              </a:lnSpc>
              <a:spcBef>
                <a:spcPts val="1600"/>
              </a:spcBef>
              <a:spcAft>
                <a:spcPts val="0"/>
              </a:spcAft>
              <a:buClr>
                <a:schemeClr val="lt2"/>
              </a:buClr>
              <a:buSzPts val="1400"/>
              <a:buChar char="■"/>
              <a:defRPr>
                <a:solidFill>
                  <a:schemeClr val="lt2"/>
                </a:solidFill>
              </a:defRPr>
            </a:lvl6pPr>
            <a:lvl7pPr indent="-317500" lvl="6" marL="3200400">
              <a:lnSpc>
                <a:spcPct val="115000"/>
              </a:lnSpc>
              <a:spcBef>
                <a:spcPts val="1600"/>
              </a:spcBef>
              <a:spcAft>
                <a:spcPts val="0"/>
              </a:spcAft>
              <a:buClr>
                <a:schemeClr val="lt2"/>
              </a:buClr>
              <a:buSzPts val="1400"/>
              <a:buChar char="●"/>
              <a:defRPr>
                <a:solidFill>
                  <a:schemeClr val="lt2"/>
                </a:solidFill>
              </a:defRPr>
            </a:lvl7pPr>
            <a:lvl8pPr indent="-317500" lvl="7" marL="3657600">
              <a:lnSpc>
                <a:spcPct val="115000"/>
              </a:lnSpc>
              <a:spcBef>
                <a:spcPts val="1600"/>
              </a:spcBef>
              <a:spcAft>
                <a:spcPts val="0"/>
              </a:spcAft>
              <a:buClr>
                <a:schemeClr val="lt2"/>
              </a:buClr>
              <a:buSzPts val="1400"/>
              <a:buChar char="○"/>
              <a:defRPr>
                <a:solidFill>
                  <a:schemeClr val="lt2"/>
                </a:solidFill>
              </a:defRPr>
            </a:lvl8pPr>
            <a:lvl9pPr indent="-317500" lvl="8" marL="4114800">
              <a:lnSpc>
                <a:spcPct val="115000"/>
              </a:lnSpc>
              <a:spcBef>
                <a:spcPts val="1600"/>
              </a:spcBef>
              <a:spcAft>
                <a:spcPts val="160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theskylive.com/vesta-inf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jpg"/><Relationship Id="rId4" Type="http://schemas.openxmlformats.org/officeDocument/2006/relationships/image" Target="../media/image18.jpg"/><Relationship Id="rId5"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jpg"/><Relationship Id="rId4" Type="http://schemas.openxmlformats.org/officeDocument/2006/relationships/image" Target="../media/image9.jpg"/><Relationship Id="rId5"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jp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en.wikipedia.org/wiki/Star" TargetMode="External"/><Relationship Id="rId4" Type="http://schemas.openxmlformats.org/officeDocument/2006/relationships/hyperlink" Target="https://en.wikipedia.org/wiki/Instability_strip" TargetMode="External"/><Relationship Id="rId5" Type="http://schemas.openxmlformats.org/officeDocument/2006/relationships/hyperlink" Target="https://en.wikipedia.org/wiki/Frequenc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40202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Emet Zeitz, Ryan Erickson, Zack Farr</a:t>
            </a:r>
            <a:endParaRPr>
              <a:solidFill>
                <a:srgbClr val="FF0000"/>
              </a:solidFill>
            </a:endParaRPr>
          </a:p>
        </p:txBody>
      </p:sp>
      <p:sp>
        <p:nvSpPr>
          <p:cNvPr id="55" name="Google Shape;55;p13"/>
          <p:cNvSpPr txBox="1"/>
          <p:nvPr>
            <p:ph type="ctrTitle"/>
          </p:nvPr>
        </p:nvSpPr>
        <p:spPr>
          <a:xfrm>
            <a:off x="311708" y="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rgbClr val="00FF00"/>
                </a:solidFill>
              </a:rPr>
              <a:t>4-Vesta, Orion Nebula,</a:t>
            </a:r>
            <a:r>
              <a:rPr lang="en">
                <a:solidFill>
                  <a:srgbClr val="00FF00"/>
                </a:solidFill>
              </a:rPr>
              <a:t> </a:t>
            </a:r>
            <a:r>
              <a:rPr lang="en">
                <a:solidFill>
                  <a:srgbClr val="00FF00"/>
                </a:solidFill>
              </a:rPr>
              <a:t>Andromeda Galaxy</a:t>
            </a:r>
            <a:endParaRPr>
              <a:solidFill>
                <a:srgbClr val="00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Asteroids</a:t>
            </a:r>
            <a:endParaRPr/>
          </a:p>
        </p:txBody>
      </p:sp>
      <p:sp>
        <p:nvSpPr>
          <p:cNvPr id="61" name="Google Shape;61;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•Near-Earth Asteroids are Easily Accessible</a:t>
            </a:r>
            <a:endParaRPr>
              <a:solidFill>
                <a:srgbClr val="FFFFFF"/>
              </a:solidFill>
              <a:latin typeface="Times New Roman"/>
              <a:ea typeface="Times New Roman"/>
              <a:cs typeface="Times New Roman"/>
              <a:sym typeface="Times New Roman"/>
            </a:endParaRPr>
          </a:p>
          <a:p>
            <a:pPr indent="0" lvl="0" marL="0" rtl="0" algn="l">
              <a:lnSpc>
                <a:spcPct val="90000"/>
              </a:lnSpc>
              <a:spcBef>
                <a:spcPts val="5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•There are over 16,000 near-Earth asteroids that share a similar orbit to Earth.</a:t>
            </a:r>
            <a:endParaRPr>
              <a:solidFill>
                <a:srgbClr val="FFFFFF"/>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•Detecting asteroids and labeling It’s threat level to Earth.</a:t>
            </a:r>
            <a:endParaRPr>
              <a:solidFill>
                <a:srgbClr val="FFFFFF"/>
              </a:solidFill>
              <a:latin typeface="Times New Roman"/>
              <a:ea typeface="Times New Roman"/>
              <a:cs typeface="Times New Roman"/>
              <a:sym typeface="Times New Roman"/>
            </a:endParaRPr>
          </a:p>
          <a:p>
            <a:pPr indent="0" lvl="0" marL="0" rtl="0" algn="l">
              <a:lnSpc>
                <a:spcPct val="90000"/>
              </a:lnSpc>
              <a:spcBef>
                <a:spcPts val="5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•NEA – Near Earth Asteroid: Labeled if closer than 1.3 AU (120,800,000 mi)</a:t>
            </a:r>
            <a:endParaRPr>
              <a:solidFill>
                <a:srgbClr val="FFFFFF"/>
              </a:solidFill>
              <a:latin typeface="Times New Roman"/>
              <a:ea typeface="Times New Roman"/>
              <a:cs typeface="Times New Roman"/>
              <a:sym typeface="Times New Roman"/>
            </a:endParaRPr>
          </a:p>
          <a:p>
            <a:pPr indent="0" lvl="0" marL="0" rtl="0" algn="l">
              <a:lnSpc>
                <a:spcPct val="90000"/>
              </a:lnSpc>
              <a:spcBef>
                <a:spcPts val="5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•PHA – Potentially Hazardous Asteroid: labeled if asteroid is closer than .05 AU (4,650,000 mi)</a:t>
            </a:r>
            <a:endParaRPr>
              <a:solidFill>
                <a:srgbClr val="FFFFFF"/>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•Rich in Resources</a:t>
            </a:r>
            <a:endParaRPr>
              <a:solidFill>
                <a:srgbClr val="FFFFFF"/>
              </a:solidFill>
              <a:latin typeface="Times New Roman"/>
              <a:ea typeface="Times New Roman"/>
              <a:cs typeface="Times New Roman"/>
              <a:sym typeface="Times New Roman"/>
            </a:endParaRPr>
          </a:p>
          <a:p>
            <a:pPr indent="0" lvl="0" marL="0" rtl="0" algn="l">
              <a:lnSpc>
                <a:spcPct val="90000"/>
              </a:lnSpc>
              <a:spcBef>
                <a:spcPts val="50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•There are an estimated two trillion tons of water available on near-Earth asteroids. This water can be used to sustain human life and as propellant for spacecraft.</a:t>
            </a:r>
            <a:endParaRPr>
              <a:solidFill>
                <a:srgbClr val="FFFFFF"/>
              </a:solidFill>
              <a:latin typeface="Times New Roman"/>
              <a:ea typeface="Times New Roman"/>
              <a:cs typeface="Times New Roman"/>
              <a:sym typeface="Times New Roman"/>
            </a:endParaRPr>
          </a:p>
          <a:p>
            <a:pPr indent="0" lvl="0" marL="0" rtl="0" algn="l">
              <a:spcBef>
                <a:spcPts val="0"/>
              </a:spcBef>
              <a:spcAft>
                <a:spcPts val="1600"/>
              </a:spcAft>
              <a:buNone/>
            </a:pPr>
            <a:r>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4-Vesta</a:t>
            </a:r>
            <a:endParaRPr/>
          </a:p>
        </p:txBody>
      </p:sp>
      <p:sp>
        <p:nvSpPr>
          <p:cNvPr id="67" name="Google Shape;67;p15"/>
          <p:cNvSpPr txBox="1"/>
          <p:nvPr>
            <p:ph idx="1" type="body"/>
          </p:nvPr>
        </p:nvSpPr>
        <p:spPr>
          <a:xfrm>
            <a:off x="311700" y="1152475"/>
            <a:ext cx="6003300" cy="34164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Clr>
                <a:srgbClr val="FFFFFF"/>
              </a:buClr>
              <a:buSzPts val="1800"/>
              <a:buChar char="●"/>
            </a:pPr>
            <a:r>
              <a:rPr lang="en">
                <a:solidFill>
                  <a:srgbClr val="FFFFFF"/>
                </a:solidFill>
                <a:latin typeface="Times New Roman"/>
                <a:ea typeface="Times New Roman"/>
                <a:cs typeface="Times New Roman"/>
                <a:sym typeface="Times New Roman"/>
              </a:rPr>
              <a:t>Discovered by the German astronomer Heinrich Wilhelm Olbers on 29 March 1807</a:t>
            </a:r>
            <a:endParaRPr>
              <a:solidFill>
                <a:srgbClr val="FFFFFF"/>
              </a:solidFill>
              <a:latin typeface="Times New Roman"/>
              <a:ea typeface="Times New Roman"/>
              <a:cs typeface="Times New Roman"/>
              <a:sym typeface="Times New Roman"/>
            </a:endParaRPr>
          </a:p>
          <a:p>
            <a:pPr indent="-342900" lvl="0" marL="457200" rtl="0" algn="l">
              <a:lnSpc>
                <a:spcPct val="200000"/>
              </a:lnSpc>
              <a:spcBef>
                <a:spcPts val="0"/>
              </a:spcBef>
              <a:spcAft>
                <a:spcPts val="0"/>
              </a:spcAft>
              <a:buClr>
                <a:srgbClr val="FFFFFF"/>
              </a:buClr>
              <a:buSzPts val="1800"/>
              <a:buChar char="●"/>
            </a:pPr>
            <a:r>
              <a:rPr lang="en">
                <a:solidFill>
                  <a:srgbClr val="FFFFFF"/>
                </a:solidFill>
                <a:latin typeface="Times New Roman"/>
                <a:ea typeface="Times New Roman"/>
                <a:cs typeface="Times New Roman"/>
                <a:sym typeface="Times New Roman"/>
              </a:rPr>
              <a:t>Mean diameter of 525 kilometres</a:t>
            </a:r>
            <a:endParaRPr>
              <a:solidFill>
                <a:srgbClr val="FFFFFF"/>
              </a:solidFill>
              <a:latin typeface="Times New Roman"/>
              <a:ea typeface="Times New Roman"/>
              <a:cs typeface="Times New Roman"/>
              <a:sym typeface="Times New Roman"/>
            </a:endParaRPr>
          </a:p>
          <a:p>
            <a:pPr indent="-342900" lvl="0" marL="457200" rtl="0" algn="l">
              <a:lnSpc>
                <a:spcPct val="200000"/>
              </a:lnSpc>
              <a:spcBef>
                <a:spcPts val="0"/>
              </a:spcBef>
              <a:spcAft>
                <a:spcPts val="0"/>
              </a:spcAft>
              <a:buClr>
                <a:srgbClr val="FFFFFF"/>
              </a:buClr>
              <a:buSzPts val="1800"/>
              <a:buFont typeface="Times New Roman"/>
              <a:buChar char="●"/>
            </a:pPr>
            <a:r>
              <a:rPr lang="en">
                <a:solidFill>
                  <a:srgbClr val="FFFFFF"/>
                </a:solidFill>
                <a:latin typeface="Times New Roman"/>
                <a:ea typeface="Times New Roman"/>
                <a:cs typeface="Times New Roman"/>
                <a:sym typeface="Times New Roman"/>
              </a:rPr>
              <a:t>It is one of the largest and most massive </a:t>
            </a:r>
            <a:r>
              <a:rPr lang="en">
                <a:solidFill>
                  <a:srgbClr val="FFFFFF"/>
                </a:solidFill>
                <a:latin typeface="Times New Roman"/>
                <a:ea typeface="Times New Roman"/>
                <a:cs typeface="Times New Roman"/>
                <a:sym typeface="Times New Roman"/>
              </a:rPr>
              <a:t>asteroids</a:t>
            </a:r>
            <a:r>
              <a:rPr lang="en">
                <a:solidFill>
                  <a:srgbClr val="FFFFFF"/>
                </a:solidFill>
                <a:latin typeface="Times New Roman"/>
                <a:ea typeface="Times New Roman"/>
                <a:cs typeface="Times New Roman"/>
                <a:sym typeface="Times New Roman"/>
              </a:rPr>
              <a:t> in the asteroid belt, second only to Ceres ( a dwarf planet)</a:t>
            </a:r>
            <a:endParaRPr>
              <a:solidFill>
                <a:srgbClr val="FFFFFF"/>
              </a:solidFill>
              <a:latin typeface="Times New Roman"/>
              <a:ea typeface="Times New Roman"/>
              <a:cs typeface="Times New Roman"/>
              <a:sym typeface="Times New Roman"/>
            </a:endParaRPr>
          </a:p>
          <a:p>
            <a:pPr indent="-342900" lvl="0" marL="457200" rtl="0" algn="l">
              <a:lnSpc>
                <a:spcPct val="200000"/>
              </a:lnSpc>
              <a:spcBef>
                <a:spcPts val="0"/>
              </a:spcBef>
              <a:spcAft>
                <a:spcPts val="0"/>
              </a:spcAft>
              <a:buClr>
                <a:srgbClr val="222222"/>
              </a:buClr>
              <a:buSzPts val="1800"/>
              <a:buFont typeface="Times New Roman"/>
              <a:buChar char="●"/>
            </a:pPr>
            <a:r>
              <a:rPr lang="en">
                <a:solidFill>
                  <a:srgbClr val="FFFFFF"/>
                </a:solidFill>
                <a:latin typeface="Times New Roman"/>
                <a:ea typeface="Times New Roman"/>
                <a:cs typeface="Times New Roman"/>
                <a:sym typeface="Times New Roman"/>
              </a:rPr>
              <a:t>it contributes an estimated 9% of the mass of the asteroid </a:t>
            </a:r>
            <a:r>
              <a:rPr lang="en">
                <a:solidFill>
                  <a:srgbClr val="222222"/>
                </a:solidFill>
                <a:latin typeface="Times New Roman"/>
                <a:ea typeface="Times New Roman"/>
                <a:cs typeface="Times New Roman"/>
                <a:sym typeface="Times New Roman"/>
              </a:rPr>
              <a:t>belt</a:t>
            </a:r>
            <a:endParaRPr>
              <a:solidFill>
                <a:srgbClr val="222222"/>
              </a:solidFill>
              <a:latin typeface="Times New Roman"/>
              <a:ea typeface="Times New Roman"/>
              <a:cs typeface="Times New Roman"/>
              <a:sym typeface="Times New Roman"/>
            </a:endParaRPr>
          </a:p>
        </p:txBody>
      </p:sp>
      <p:pic>
        <p:nvPicPr>
          <p:cNvPr id="68" name="Google Shape;68;p15"/>
          <p:cNvPicPr preferRelativeResize="0"/>
          <p:nvPr/>
        </p:nvPicPr>
        <p:blipFill>
          <a:blip r:embed="rId3">
            <a:alphaModFix/>
          </a:blip>
          <a:stretch>
            <a:fillRect/>
          </a:stretch>
        </p:blipFill>
        <p:spPr>
          <a:xfrm>
            <a:off x="6315075" y="1157288"/>
            <a:ext cx="2828925" cy="2828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Observation</a:t>
            </a:r>
            <a:endParaRPr>
              <a:solidFill>
                <a:srgbClr val="FFFFFF"/>
              </a:solidFill>
            </a:endParaRPr>
          </a:p>
        </p:txBody>
      </p:sp>
      <p:graphicFrame>
        <p:nvGraphicFramePr>
          <p:cNvPr id="74" name="Google Shape;74;p16"/>
          <p:cNvGraphicFramePr/>
          <p:nvPr/>
        </p:nvGraphicFramePr>
        <p:xfrm>
          <a:off x="321987" y="1017713"/>
          <a:ext cx="3000000" cy="3000000"/>
        </p:xfrm>
        <a:graphic>
          <a:graphicData uri="http://schemas.openxmlformats.org/drawingml/2006/table">
            <a:tbl>
              <a:tblPr>
                <a:noFill/>
                <a:tableStyleId>{ACCE56C1-5E7A-42C8-8520-CFB4C9CAC597}</a:tableStyleId>
              </a:tblPr>
              <a:tblGrid>
                <a:gridCol w="1311300"/>
                <a:gridCol w="1368950"/>
                <a:gridCol w="1383350"/>
                <a:gridCol w="1109575"/>
                <a:gridCol w="1383350"/>
                <a:gridCol w="1469800"/>
              </a:tblGrid>
              <a:tr h="655675">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Target Name</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RA</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Dec</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Filter</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Exposures</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Integration Time (s)</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4 Vesta</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281.2875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-25.7169</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Clear</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10</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4 Vesta</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281.2875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-25.7169</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SDSS u’</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3</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1</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4 Vesta</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281.2875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-25.7169</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SDSS i’</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3</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1</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4 Vesta</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281.2875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-25.7169</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SDSS g’</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3</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4 Vesta</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281.2875</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-25.7169</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SDSS r’</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3</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1</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r h="434150">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c>
                  <a:txBody>
                    <a:bodyPr>
                      <a:noAutofit/>
                    </a:bodyPr>
                    <a:lstStyle/>
                    <a:p>
                      <a:pPr indent="0" lvl="0" marL="0" rtl="0" algn="l">
                        <a:lnSpc>
                          <a:spcPct val="115000"/>
                        </a:lnSpc>
                        <a:spcBef>
                          <a:spcPts val="0"/>
                        </a:spcBef>
                        <a:spcAft>
                          <a:spcPts val="0"/>
                        </a:spcAft>
                        <a:buNone/>
                      </a:pPr>
                      <a:r>
                        <a:rPr lang="en" sz="1100">
                          <a:solidFill>
                            <a:srgbClr val="FFFFFF"/>
                          </a:solidFill>
                          <a:latin typeface="Times New Roman"/>
                          <a:ea typeface="Times New Roman"/>
                          <a:cs typeface="Times New Roman"/>
                          <a:sym typeface="Times New Roman"/>
                        </a:rPr>
                        <a:t> </a:t>
                      </a:r>
                      <a:endParaRPr sz="1100">
                        <a:solidFill>
                          <a:srgbClr val="FFFFFF"/>
                        </a:solidFill>
                        <a:latin typeface="Times New Roman"/>
                        <a:ea typeface="Times New Roman"/>
                        <a:cs typeface="Times New Roman"/>
                        <a:sym typeface="Times New Roman"/>
                      </a:endParaRPr>
                    </a:p>
                  </a:txBody>
                  <a:tcPr marT="91425" marB="91425" marR="68575" marL="71750">
                    <a:lnL cap="flat" cmpd="sng" w="12625">
                      <a:solidFill>
                        <a:srgbClr val="FFFFFF"/>
                      </a:solidFill>
                      <a:prstDash val="solid"/>
                      <a:round/>
                      <a:headEnd len="sm" w="sm" type="none"/>
                      <a:tailEnd len="sm" w="sm" type="none"/>
                    </a:lnL>
                    <a:lnR cap="flat" cmpd="sng" w="12625">
                      <a:solidFill>
                        <a:srgbClr val="FFFFFF"/>
                      </a:solidFill>
                      <a:prstDash val="solid"/>
                      <a:round/>
                      <a:headEnd len="sm" w="sm" type="none"/>
                      <a:tailEnd len="sm" w="sm" type="none"/>
                    </a:lnR>
                    <a:lnT cap="flat" cmpd="sng" w="12625">
                      <a:solidFill>
                        <a:srgbClr val="FFFFFF"/>
                      </a:solidFill>
                      <a:prstDash val="solid"/>
                      <a:round/>
                      <a:headEnd len="sm" w="sm" type="none"/>
                      <a:tailEnd len="sm" w="sm" type="none"/>
                    </a:lnT>
                    <a:lnB cap="flat" cmpd="sng" w="12625">
                      <a:solidFill>
                        <a:srgbClr val="FFFFFF"/>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Locating 4-Vesta</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Include image and star atlas</a:t>
            </a:r>
            <a:endParaRPr/>
          </a:p>
        </p:txBody>
      </p:sp>
      <p:pic>
        <p:nvPicPr>
          <p:cNvPr id="81" name="Google Shape;81;p17"/>
          <p:cNvPicPr preferRelativeResize="0"/>
          <p:nvPr/>
        </p:nvPicPr>
        <p:blipFill>
          <a:blip r:embed="rId3">
            <a:alphaModFix/>
          </a:blip>
          <a:stretch>
            <a:fillRect/>
          </a:stretch>
        </p:blipFill>
        <p:spPr>
          <a:xfrm>
            <a:off x="403900" y="1017725"/>
            <a:ext cx="7189474" cy="4044076"/>
          </a:xfrm>
          <a:prstGeom prst="rect">
            <a:avLst/>
          </a:prstGeom>
          <a:noFill/>
          <a:ln>
            <a:noFill/>
          </a:ln>
        </p:spPr>
      </p:pic>
      <p:cxnSp>
        <p:nvCxnSpPr>
          <p:cNvPr id="82" name="Google Shape;82;p17"/>
          <p:cNvCxnSpPr/>
          <p:nvPr/>
        </p:nvCxnSpPr>
        <p:spPr>
          <a:xfrm flipH="1">
            <a:off x="5447575" y="2592500"/>
            <a:ext cx="255900" cy="318000"/>
          </a:xfrm>
          <a:prstGeom prst="straightConnector1">
            <a:avLst/>
          </a:prstGeom>
          <a:noFill/>
          <a:ln cap="flat" cmpd="sng" w="9525">
            <a:solidFill>
              <a:srgbClr val="FFFFFF"/>
            </a:solidFill>
            <a:prstDash val="solid"/>
            <a:round/>
            <a:headEnd len="med" w="med" type="none"/>
            <a:tailEnd len="med" w="med" type="stealth"/>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Light Curves</a:t>
            </a:r>
            <a:endParaRPr/>
          </a:p>
        </p:txBody>
      </p:sp>
      <p:sp>
        <p:nvSpPr>
          <p:cNvPr id="88" name="Google Shape;88;p18"/>
          <p:cNvSpPr txBox="1"/>
          <p:nvPr>
            <p:ph idx="1" type="body"/>
          </p:nvPr>
        </p:nvSpPr>
        <p:spPr>
          <a:xfrm>
            <a:off x="311700" y="1152475"/>
            <a:ext cx="8520600" cy="34164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0"/>
              </a:spcBef>
              <a:spcAft>
                <a:spcPts val="0"/>
              </a:spcAft>
              <a:buClr>
                <a:srgbClr val="FFFFFF"/>
              </a:buClr>
              <a:buSzPts val="1200"/>
              <a:buChar char="●"/>
            </a:pPr>
            <a:r>
              <a:rPr lang="en" sz="1200">
                <a:solidFill>
                  <a:srgbClr val="FFFFFF"/>
                </a:solidFill>
              </a:rPr>
              <a:t>One of the things we hoped to learn through observation of near-Earth objects is their exact rotation rate, by taking a series of observations of the object over time, and plotting the change in brightness. </a:t>
            </a:r>
            <a:endParaRPr sz="1200">
              <a:solidFill>
                <a:srgbClr val="FFFFFF"/>
              </a:solidFill>
            </a:endParaRPr>
          </a:p>
          <a:p>
            <a:pPr indent="-304800" lvl="0" marL="457200" rtl="0" algn="l">
              <a:spcBef>
                <a:spcPts val="1600"/>
              </a:spcBef>
              <a:spcAft>
                <a:spcPts val="0"/>
              </a:spcAft>
              <a:buClr>
                <a:srgbClr val="FFFFFF"/>
              </a:buClr>
              <a:buSzPts val="1200"/>
              <a:buChar char="●"/>
            </a:pPr>
            <a:r>
              <a:rPr lang="en" sz="1200">
                <a:solidFill>
                  <a:srgbClr val="FFFFFF"/>
                </a:solidFill>
              </a:rPr>
              <a:t>Unfortunately we did not know the extent of data needed to produce accurate light curves.</a:t>
            </a:r>
            <a:endParaRPr sz="1200">
              <a:solidFill>
                <a:srgbClr val="FFFFFF"/>
              </a:solidFill>
            </a:endParaRPr>
          </a:p>
          <a:p>
            <a:pPr indent="-304800" lvl="0" marL="457200" rtl="0" algn="l">
              <a:spcBef>
                <a:spcPts val="1600"/>
              </a:spcBef>
              <a:spcAft>
                <a:spcPts val="0"/>
              </a:spcAft>
              <a:buClr>
                <a:srgbClr val="FFFFFF"/>
              </a:buClr>
              <a:buSzPts val="1200"/>
              <a:buChar char="●"/>
            </a:pPr>
            <a:r>
              <a:rPr lang="en" sz="1200">
                <a:solidFill>
                  <a:srgbClr val="FFFFFF"/>
                </a:solidFill>
              </a:rPr>
              <a:t>Instead of using our data we pulled some secondary source data from </a:t>
            </a:r>
            <a:r>
              <a:rPr lang="en" sz="1200" u="sng">
                <a:solidFill>
                  <a:srgbClr val="FFFFFF"/>
                </a:solidFill>
                <a:hlinkClick r:id="rId3"/>
              </a:rPr>
              <a:t>https://theskylive.com/vesta-info</a:t>
            </a:r>
            <a:r>
              <a:rPr lang="en" sz="1200">
                <a:solidFill>
                  <a:srgbClr val="FFFFFF"/>
                </a:solidFill>
              </a:rPr>
              <a:t> and used that to plot our own light curve</a:t>
            </a:r>
            <a:endParaRPr sz="1200">
              <a:solidFill>
                <a:srgbClr val="FFFFFF"/>
              </a:solidFill>
            </a:endParaRPr>
          </a:p>
          <a:p>
            <a:pPr indent="-304800" lvl="0" marL="457200" rtl="0" algn="l">
              <a:spcBef>
                <a:spcPts val="1600"/>
              </a:spcBef>
              <a:spcAft>
                <a:spcPts val="1600"/>
              </a:spcAft>
              <a:buClr>
                <a:srgbClr val="FFFFFF"/>
              </a:buClr>
              <a:buSzPts val="1200"/>
              <a:buChar char="●"/>
            </a:pPr>
            <a:r>
              <a:rPr lang="en" sz="1200">
                <a:solidFill>
                  <a:srgbClr val="FFFFFF"/>
                </a:solidFill>
              </a:rPr>
              <a:t>The three plots we have made are magnitude vs phase, magnitude vs date, and altered magnitude vs phase.</a:t>
            </a:r>
            <a:endParaRPr sz="1200">
              <a:solidFill>
                <a:srgbClr val="FFFFFF"/>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from TheSkyLive</a:t>
            </a:r>
            <a:endParaRPr/>
          </a:p>
        </p:txBody>
      </p:sp>
      <p:pic>
        <p:nvPicPr>
          <p:cNvPr id="94" name="Google Shape;94;p19"/>
          <p:cNvPicPr preferRelativeResize="0"/>
          <p:nvPr/>
        </p:nvPicPr>
        <p:blipFill rotWithShape="1">
          <a:blip r:embed="rId3">
            <a:alphaModFix/>
          </a:blip>
          <a:srcRect b="0" l="0" r="0" t="0"/>
          <a:stretch/>
        </p:blipFill>
        <p:spPr>
          <a:xfrm>
            <a:off x="1196938" y="1159100"/>
            <a:ext cx="6750117" cy="382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01" name="Google Shape;101;p20"/>
          <p:cNvPicPr preferRelativeResize="0"/>
          <p:nvPr/>
        </p:nvPicPr>
        <p:blipFill>
          <a:blip r:embed="rId3">
            <a:alphaModFix/>
          </a:blip>
          <a:stretch>
            <a:fillRect/>
          </a:stretch>
        </p:blipFill>
        <p:spPr>
          <a:xfrm>
            <a:off x="311700" y="0"/>
            <a:ext cx="8520600" cy="4938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 name="Shape 105"/>
        <p:cNvGrpSpPr/>
        <p:nvPr/>
      </p:nvGrpSpPr>
      <p:grpSpPr>
        <a:xfrm>
          <a:off x="0" y="0"/>
          <a:ext cx="0" cy="0"/>
          <a:chOff x="0" y="0"/>
          <a:chExt cx="0" cy="0"/>
        </a:xfrm>
      </p:grpSpPr>
      <p:pic>
        <p:nvPicPr>
          <p:cNvPr id="106" name="Google Shape;106;p21"/>
          <p:cNvPicPr preferRelativeResize="0"/>
          <p:nvPr/>
        </p:nvPicPr>
        <p:blipFill>
          <a:blip r:embed="rId3">
            <a:alphaModFix/>
          </a:blip>
          <a:stretch>
            <a:fillRect/>
          </a:stretch>
        </p:blipFill>
        <p:spPr>
          <a:xfrm>
            <a:off x="604893" y="0"/>
            <a:ext cx="7934212" cy="5143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3" name="Google Shape;113;p22"/>
          <p:cNvPicPr preferRelativeResize="0"/>
          <p:nvPr/>
        </p:nvPicPr>
        <p:blipFill>
          <a:blip r:embed="rId3">
            <a:alphaModFix/>
          </a:blip>
          <a:stretch>
            <a:fillRect/>
          </a:stretch>
        </p:blipFill>
        <p:spPr>
          <a:xfrm>
            <a:off x="123825" y="155450"/>
            <a:ext cx="8708475" cy="4473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20" name="Google Shape;120;p23"/>
          <p:cNvPicPr preferRelativeResize="0"/>
          <p:nvPr/>
        </p:nvPicPr>
        <p:blipFill>
          <a:blip r:embed="rId3">
            <a:alphaModFix/>
          </a:blip>
          <a:stretch>
            <a:fillRect/>
          </a:stretch>
        </p:blipFill>
        <p:spPr>
          <a:xfrm>
            <a:off x="227425" y="63775"/>
            <a:ext cx="8835925" cy="5027725"/>
          </a:xfrm>
          <a:prstGeom prst="rect">
            <a:avLst/>
          </a:prstGeom>
          <a:noFill/>
          <a:ln>
            <a:noFill/>
          </a:ln>
        </p:spPr>
      </p:pic>
      <p:sp>
        <p:nvSpPr>
          <p:cNvPr id="121" name="Google Shape;121;p23"/>
          <p:cNvSpPr txBox="1"/>
          <p:nvPr/>
        </p:nvSpPr>
        <p:spPr>
          <a:xfrm>
            <a:off x="513925" y="4568875"/>
            <a:ext cx="1820100" cy="4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Rotation Period 5.342 hours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 good Light Curve Looks like</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28" name="Google Shape;128;p24"/>
          <p:cNvPicPr preferRelativeResize="0"/>
          <p:nvPr/>
        </p:nvPicPr>
        <p:blipFill>
          <a:blip r:embed="rId3">
            <a:alphaModFix/>
          </a:blip>
          <a:stretch>
            <a:fillRect/>
          </a:stretch>
        </p:blipFill>
        <p:spPr>
          <a:xfrm>
            <a:off x="0" y="1085850"/>
            <a:ext cx="9144000" cy="4057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Astrophotography - </a:t>
            </a:r>
            <a:r>
              <a:rPr lang="en"/>
              <a:t>Orion Nebula</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FFFFF"/>
              </a:buClr>
              <a:buSzPts val="1400"/>
              <a:buChar char="-"/>
            </a:pPr>
            <a:r>
              <a:rPr lang="en" sz="1400">
                <a:solidFill>
                  <a:srgbClr val="FFFFFF"/>
                </a:solidFill>
              </a:rPr>
              <a:t>Also known as M42, Orion Nebula is a diffuse nebula situated in the Milky Way, being south of Orion's Belt in the constellation of Orion. It is one of the brightest nebulae, and is visible to the naked eye in the night sky.</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The M42 nebula is estimated to be 24 light years across and its 1,344 ly and has a mass of about 2,000 times that of the Sun.</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The nebula has revealed much about the process of how stars and planetary systems are formed from collapsing clouds of gas and dust.</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 Astronomers have directly observed protoplanetary disks, brown dwarfs, intense and turbulent motions of the gas, and the photo-ionizing effects of massive nearby stars in the nebula.</a:t>
            </a:r>
            <a:endParaRPr sz="1400">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We initially started with exposures of 1-2 sec, as we used apparent magnitude when calculating exposure time rather than absolute magnitude, which later produced exposure times of around 30 seconds. </a:t>
            </a:r>
            <a:endParaRPr sz="14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 name="Shape 138"/>
        <p:cNvGrpSpPr/>
        <p:nvPr/>
      </p:nvGrpSpPr>
      <p:grpSpPr>
        <a:xfrm>
          <a:off x="0" y="0"/>
          <a:ext cx="0" cy="0"/>
          <a:chOff x="0" y="0"/>
          <a:chExt cx="0" cy="0"/>
        </a:xfrm>
      </p:grpSpPr>
      <p:sp>
        <p:nvSpPr>
          <p:cNvPr id="139" name="Google Shape;139;p26"/>
          <p:cNvSpPr txBox="1"/>
          <p:nvPr>
            <p:ph idx="1" type="body"/>
          </p:nvPr>
        </p:nvSpPr>
        <p:spPr>
          <a:xfrm>
            <a:off x="177250" y="116252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rgbClr val="FFFFFF"/>
                </a:solidFill>
              </a:rPr>
              <a:t>-Preprocessing: “Raw” Photos</a:t>
            </a:r>
            <a:endParaRPr sz="1400">
              <a:solidFill>
                <a:srgbClr val="FFFFFF"/>
              </a:solidFill>
            </a:endParaRPr>
          </a:p>
          <a:p>
            <a:pPr indent="0" lvl="0" marL="457200" rtl="0" algn="l">
              <a:lnSpc>
                <a:spcPct val="100000"/>
              </a:lnSpc>
              <a:spcBef>
                <a:spcPts val="0"/>
              </a:spcBef>
              <a:spcAft>
                <a:spcPts val="0"/>
              </a:spcAft>
              <a:buNone/>
            </a:pPr>
            <a:r>
              <a:rPr lang="en" sz="1400">
                <a:solidFill>
                  <a:srgbClr val="FFFFFF"/>
                </a:solidFill>
              </a:rPr>
              <a:t>- This was a </a:t>
            </a:r>
            <a:r>
              <a:rPr lang="en" sz="1400">
                <a:solidFill>
                  <a:srgbClr val="FFFFFF"/>
                </a:solidFill>
              </a:rPr>
              <a:t>streamlined</a:t>
            </a:r>
            <a:r>
              <a:rPr lang="en" sz="1400">
                <a:solidFill>
                  <a:srgbClr val="FFFFFF"/>
                </a:solidFill>
              </a:rPr>
              <a:t> process done in astro art made even easier by LCO’s BANZI program, which eliminated the need for any flat fields, dark frames, and dark flats as it already merged them into the best possible picture</a:t>
            </a:r>
            <a:endParaRPr sz="1400">
              <a:solidFill>
                <a:srgbClr val="FFFFFF"/>
              </a:solidFill>
            </a:endParaRPr>
          </a:p>
          <a:p>
            <a:pPr indent="0" lvl="0" marL="0" rtl="0" algn="l">
              <a:lnSpc>
                <a:spcPct val="100000"/>
              </a:lnSpc>
              <a:spcBef>
                <a:spcPts val="0"/>
              </a:spcBef>
              <a:spcAft>
                <a:spcPts val="0"/>
              </a:spcAft>
              <a:buNone/>
            </a:pPr>
            <a:r>
              <a:rPr lang="en" sz="1400">
                <a:solidFill>
                  <a:srgbClr val="FFFFFF"/>
                </a:solidFill>
              </a:rPr>
              <a:t>	- Mainly used to align, and merge (sigma) multiple captures at once </a:t>
            </a:r>
            <a:endParaRPr sz="1400">
              <a:solidFill>
                <a:srgbClr val="FFFFFF"/>
              </a:solidFill>
            </a:endParaRPr>
          </a:p>
          <a:p>
            <a:pPr indent="0" lvl="0" marL="0" rtl="0" algn="l">
              <a:lnSpc>
                <a:spcPct val="100000"/>
              </a:lnSpc>
              <a:spcBef>
                <a:spcPts val="0"/>
              </a:spcBef>
              <a:spcAft>
                <a:spcPts val="0"/>
              </a:spcAft>
              <a:buNone/>
            </a:pPr>
            <a:r>
              <a:t/>
            </a:r>
            <a:endParaRPr sz="1400">
              <a:solidFill>
                <a:srgbClr val="FFFFFF"/>
              </a:solidFill>
            </a:endParaRPr>
          </a:p>
          <a:p>
            <a:pPr indent="0" lvl="0" marL="0" rtl="0" algn="l">
              <a:lnSpc>
                <a:spcPct val="100000"/>
              </a:lnSpc>
              <a:spcBef>
                <a:spcPts val="0"/>
              </a:spcBef>
              <a:spcAft>
                <a:spcPts val="0"/>
              </a:spcAft>
              <a:buNone/>
            </a:pPr>
            <a:r>
              <a:rPr lang="en" sz="1400">
                <a:solidFill>
                  <a:srgbClr val="FFFFFF"/>
                </a:solidFill>
              </a:rPr>
              <a:t>-Light curves</a:t>
            </a:r>
            <a:endParaRPr sz="1400">
              <a:solidFill>
                <a:srgbClr val="FFFFFF"/>
              </a:solidFill>
            </a:endParaRPr>
          </a:p>
          <a:p>
            <a:pPr indent="0" lvl="0" marL="457200" rtl="0" algn="l">
              <a:lnSpc>
                <a:spcPct val="100000"/>
              </a:lnSpc>
              <a:spcBef>
                <a:spcPts val="0"/>
              </a:spcBef>
              <a:spcAft>
                <a:spcPts val="0"/>
              </a:spcAft>
              <a:buNone/>
            </a:pPr>
            <a:r>
              <a:rPr lang="en" sz="1400">
                <a:solidFill>
                  <a:srgbClr val="FFFFFF"/>
                </a:solidFill>
              </a:rPr>
              <a:t>- This option wasn’t as apparent in Astroart, and it was difficult to dim brighter areas while </a:t>
            </a:r>
            <a:r>
              <a:rPr lang="en" sz="1400">
                <a:solidFill>
                  <a:srgbClr val="FFFFFF"/>
                </a:solidFill>
              </a:rPr>
              <a:t>enlightening</a:t>
            </a:r>
            <a:r>
              <a:rPr lang="en" sz="1400">
                <a:solidFill>
                  <a:srgbClr val="FFFFFF"/>
                </a:solidFill>
              </a:rPr>
              <a:t> darker areas</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0" lvl="0" marL="0" rtl="0" algn="l">
              <a:lnSpc>
                <a:spcPct val="100000"/>
              </a:lnSpc>
              <a:spcBef>
                <a:spcPts val="0"/>
              </a:spcBef>
              <a:spcAft>
                <a:spcPts val="0"/>
              </a:spcAft>
              <a:buNone/>
            </a:pPr>
            <a:r>
              <a:rPr lang="en" sz="1400">
                <a:solidFill>
                  <a:srgbClr val="FFFFFF"/>
                </a:solidFill>
              </a:rPr>
              <a:t>- Then, we used two methods to add color and it was simply a matter of playing with the different options in Astroart/GIMP to produce the best images with the best results</a:t>
            </a:r>
            <a:endParaRPr sz="1400">
              <a:solidFill>
                <a:srgbClr val="FFFFFF"/>
              </a:solidFill>
            </a:endParaRPr>
          </a:p>
          <a:p>
            <a:pPr indent="0" lvl="0" marL="0" rtl="0" algn="l">
              <a:lnSpc>
                <a:spcPct val="100000"/>
              </a:lnSpc>
              <a:spcBef>
                <a:spcPts val="0"/>
              </a:spcBef>
              <a:spcAft>
                <a:spcPts val="0"/>
              </a:spcAft>
              <a:buNone/>
            </a:pPr>
            <a:r>
              <a:t/>
            </a:r>
            <a:endParaRPr sz="1200">
              <a:solidFill>
                <a:srgbClr val="FFFFFF"/>
              </a:solidFill>
            </a:endParaRPr>
          </a:p>
          <a:p>
            <a:pPr indent="0" lvl="0" marL="0" rtl="0" algn="l">
              <a:lnSpc>
                <a:spcPct val="100000"/>
              </a:lnSpc>
              <a:spcBef>
                <a:spcPts val="0"/>
              </a:spcBef>
              <a:spcAft>
                <a:spcPts val="0"/>
              </a:spcAft>
              <a:buNone/>
            </a:pPr>
            <a:r>
              <a:t/>
            </a:r>
            <a:endParaRPr sz="1200">
              <a:solidFill>
                <a:srgbClr val="FFFFFF"/>
              </a:solidFill>
            </a:endParaRPr>
          </a:p>
        </p:txBody>
      </p:sp>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Process of stacking/merging images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104300" y="440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Images after stacking (all of these are through SDSS r’ filters)</a:t>
            </a:r>
            <a:endParaRPr sz="2600"/>
          </a:p>
        </p:txBody>
      </p:sp>
      <p:sp>
        <p:nvSpPr>
          <p:cNvPr id="146" name="Google Shape;146;p27"/>
          <p:cNvSpPr txBox="1"/>
          <p:nvPr>
            <p:ph idx="1" type="body"/>
          </p:nvPr>
        </p:nvSpPr>
        <p:spPr>
          <a:xfrm>
            <a:off x="6366350" y="3475225"/>
            <a:ext cx="2466000" cy="1093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7" name="Google Shape;147;p27"/>
          <p:cNvPicPr preferRelativeResize="0"/>
          <p:nvPr/>
        </p:nvPicPr>
        <p:blipFill>
          <a:blip r:embed="rId3">
            <a:alphaModFix/>
          </a:blip>
          <a:stretch>
            <a:fillRect/>
          </a:stretch>
        </p:blipFill>
        <p:spPr>
          <a:xfrm>
            <a:off x="1202875" y="571088"/>
            <a:ext cx="3338526" cy="2030973"/>
          </a:xfrm>
          <a:prstGeom prst="rect">
            <a:avLst/>
          </a:prstGeom>
          <a:noFill/>
          <a:ln>
            <a:noFill/>
          </a:ln>
        </p:spPr>
      </p:pic>
      <p:pic>
        <p:nvPicPr>
          <p:cNvPr id="148" name="Google Shape;148;p27"/>
          <p:cNvPicPr preferRelativeResize="0"/>
          <p:nvPr/>
        </p:nvPicPr>
        <p:blipFill>
          <a:blip r:embed="rId4">
            <a:alphaModFix/>
          </a:blip>
          <a:stretch>
            <a:fillRect/>
          </a:stretch>
        </p:blipFill>
        <p:spPr>
          <a:xfrm>
            <a:off x="4926025" y="616750"/>
            <a:ext cx="4031355" cy="3776297"/>
          </a:xfrm>
          <a:prstGeom prst="rect">
            <a:avLst/>
          </a:prstGeom>
          <a:noFill/>
          <a:ln>
            <a:noFill/>
          </a:ln>
        </p:spPr>
      </p:pic>
      <p:pic>
        <p:nvPicPr>
          <p:cNvPr id="149" name="Google Shape;149;p27"/>
          <p:cNvPicPr preferRelativeResize="0"/>
          <p:nvPr/>
        </p:nvPicPr>
        <p:blipFill>
          <a:blip r:embed="rId5">
            <a:alphaModFix/>
          </a:blip>
          <a:stretch>
            <a:fillRect/>
          </a:stretch>
        </p:blipFill>
        <p:spPr>
          <a:xfrm>
            <a:off x="906250" y="2723825"/>
            <a:ext cx="3588603" cy="2302151"/>
          </a:xfrm>
          <a:prstGeom prst="rect">
            <a:avLst/>
          </a:prstGeom>
          <a:noFill/>
          <a:ln>
            <a:noFill/>
          </a:ln>
        </p:spPr>
      </p:pic>
      <p:sp>
        <p:nvSpPr>
          <p:cNvPr id="150" name="Google Shape;150;p27"/>
          <p:cNvSpPr txBox="1"/>
          <p:nvPr/>
        </p:nvSpPr>
        <p:spPr>
          <a:xfrm>
            <a:off x="110625" y="712075"/>
            <a:ext cx="960900" cy="17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GIMP</a:t>
            </a:r>
            <a:endParaRPr/>
          </a:p>
        </p:txBody>
      </p:sp>
      <p:sp>
        <p:nvSpPr>
          <p:cNvPr id="156" name="Google Shape;156;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rgbClr val="FFFFFF"/>
              </a:buClr>
              <a:buSzPts val="1400"/>
              <a:buChar char="-"/>
            </a:pPr>
            <a:r>
              <a:rPr lang="en" sz="1400">
                <a:solidFill>
                  <a:srgbClr val="FFFFFF"/>
                </a:solidFill>
              </a:rPr>
              <a:t>GIMP is short for GNU Image Manipulation Program, and is a free photoshop tool for Windows, Linux, and Mac</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Before using GIMP, a file conversion from .FITS to .TIFF done by FitsLiberator so GIMP can read the file</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In FitsLiberator, levels could be adjusted </a:t>
            </a:r>
            <a:endParaRPr sz="1400">
              <a:solidFill>
                <a:srgbClr val="FFFFFF"/>
              </a:solidFill>
            </a:endParaRPr>
          </a:p>
          <a:p>
            <a:pPr indent="0" lvl="0" marL="457200" rtl="0" algn="l">
              <a:lnSpc>
                <a:spcPct val="100000"/>
              </a:lnSpc>
              <a:spcBef>
                <a:spcPts val="0"/>
              </a:spcBef>
              <a:spcAft>
                <a:spcPts val="0"/>
              </a:spcAft>
              <a:buNone/>
            </a:pPr>
            <a:r>
              <a:rPr lang="en" sz="1400">
                <a:solidFill>
                  <a:srgbClr val="FFFFFF"/>
                </a:solidFill>
              </a:rPr>
              <a:t>and slight brightness control was also</a:t>
            </a:r>
            <a:endParaRPr sz="1400">
              <a:solidFill>
                <a:srgbClr val="FFFFFF"/>
              </a:solidFill>
            </a:endParaRPr>
          </a:p>
          <a:p>
            <a:pPr indent="0" lvl="0" marL="457200" rtl="0" algn="l">
              <a:lnSpc>
                <a:spcPct val="100000"/>
              </a:lnSpc>
              <a:spcBef>
                <a:spcPts val="0"/>
              </a:spcBef>
              <a:spcAft>
                <a:spcPts val="0"/>
              </a:spcAft>
              <a:buNone/>
            </a:pPr>
            <a:r>
              <a:rPr lang="en" sz="1400">
                <a:solidFill>
                  <a:srgbClr val="FFFFFF"/>
                </a:solidFill>
              </a:rPr>
              <a:t>avaliable before they were edited </a:t>
            </a:r>
            <a:endParaRPr sz="1400">
              <a:solidFill>
                <a:srgbClr val="FFFFFF"/>
              </a:solidFill>
            </a:endParaRPr>
          </a:p>
          <a:p>
            <a:pPr indent="0" lvl="0" marL="457200" rtl="0" algn="l">
              <a:lnSpc>
                <a:spcPct val="100000"/>
              </a:lnSpc>
              <a:spcBef>
                <a:spcPts val="0"/>
              </a:spcBef>
              <a:spcAft>
                <a:spcPts val="0"/>
              </a:spcAft>
              <a:buNone/>
            </a:pPr>
            <a:r>
              <a:rPr lang="en" sz="1400">
                <a:solidFill>
                  <a:srgbClr val="FFFFFF"/>
                </a:solidFill>
              </a:rPr>
              <a:t>further in GIMP</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It has many more options to play around with </a:t>
            </a:r>
            <a:endParaRPr sz="1400">
              <a:solidFill>
                <a:srgbClr val="FFFFFF"/>
              </a:solidFill>
            </a:endParaRPr>
          </a:p>
          <a:p>
            <a:pPr indent="0" lvl="0" marL="457200" rtl="0" algn="l">
              <a:lnSpc>
                <a:spcPct val="100000"/>
              </a:lnSpc>
              <a:spcBef>
                <a:spcPts val="0"/>
              </a:spcBef>
              <a:spcAft>
                <a:spcPts val="0"/>
              </a:spcAft>
              <a:buNone/>
            </a:pPr>
            <a:r>
              <a:rPr lang="en" sz="1400">
                <a:solidFill>
                  <a:srgbClr val="FFFFFF"/>
                </a:solidFill>
              </a:rPr>
              <a:t>than Astroart, such as but not limited to:</a:t>
            </a:r>
            <a:endParaRPr sz="1400">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Exposure filters</a:t>
            </a:r>
            <a:endParaRPr>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More accurate reading of light levels</a:t>
            </a:r>
            <a:endParaRPr>
              <a:solidFill>
                <a:srgbClr val="FFFFFF"/>
              </a:solidFill>
            </a:endParaRPr>
          </a:p>
          <a:p>
            <a:pPr indent="0" lvl="0" marL="914400" rtl="0" algn="l">
              <a:lnSpc>
                <a:spcPct val="100000"/>
              </a:lnSpc>
              <a:spcBef>
                <a:spcPts val="0"/>
              </a:spcBef>
              <a:spcAft>
                <a:spcPts val="0"/>
              </a:spcAft>
              <a:buNone/>
            </a:pPr>
            <a:r>
              <a:rPr lang="en" sz="1400">
                <a:solidFill>
                  <a:srgbClr val="FFFFFF"/>
                </a:solidFill>
              </a:rPr>
              <a:t>and curves</a:t>
            </a:r>
            <a:endParaRPr sz="1400">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Saturation and black levels</a:t>
            </a:r>
            <a:endParaRPr>
              <a:solidFill>
                <a:srgbClr val="FFFFFF"/>
              </a:solidFill>
            </a:endParaRPr>
          </a:p>
          <a:p>
            <a:pPr indent="-317500" lvl="1" marL="914400" rtl="0" algn="l">
              <a:lnSpc>
                <a:spcPct val="100000"/>
              </a:lnSpc>
              <a:spcBef>
                <a:spcPts val="0"/>
              </a:spcBef>
              <a:spcAft>
                <a:spcPts val="0"/>
              </a:spcAft>
              <a:buClr>
                <a:srgbClr val="FFFFFF"/>
              </a:buClr>
              <a:buSzPts val="1400"/>
              <a:buChar char="-"/>
            </a:pPr>
            <a:r>
              <a:rPr lang="en">
                <a:solidFill>
                  <a:srgbClr val="FFFFFF"/>
                </a:solidFill>
              </a:rPr>
              <a:t>Real time editing previews</a:t>
            </a:r>
            <a:endParaRPr>
              <a:solidFill>
                <a:srgbClr val="FFFFFF"/>
              </a:solidFill>
            </a:endParaRPr>
          </a:p>
          <a:p>
            <a:pPr indent="0" lvl="0" marL="0" rtl="0" algn="l">
              <a:spcBef>
                <a:spcPts val="0"/>
              </a:spcBef>
              <a:spcAft>
                <a:spcPts val="1600"/>
              </a:spcAft>
              <a:buNone/>
            </a:pPr>
            <a:r>
              <a:t/>
            </a:r>
            <a:endParaRPr>
              <a:solidFill>
                <a:srgbClr val="FFFFFF"/>
              </a:solidFill>
            </a:endParaRPr>
          </a:p>
        </p:txBody>
      </p:sp>
      <p:pic>
        <p:nvPicPr>
          <p:cNvPr id="157" name="Google Shape;157;p28"/>
          <p:cNvPicPr preferRelativeResize="0"/>
          <p:nvPr/>
        </p:nvPicPr>
        <p:blipFill>
          <a:blip r:embed="rId3">
            <a:alphaModFix/>
          </a:blip>
          <a:stretch>
            <a:fillRect/>
          </a:stretch>
        </p:blipFill>
        <p:spPr>
          <a:xfrm>
            <a:off x="4465676" y="1874200"/>
            <a:ext cx="4459401" cy="31880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Coloring </a:t>
            </a:r>
            <a:endParaRPr/>
          </a:p>
        </p:txBody>
      </p:sp>
      <p:sp>
        <p:nvSpPr>
          <p:cNvPr id="163" name="Google Shape;163;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400">
                <a:solidFill>
                  <a:schemeClr val="dk1"/>
                </a:solidFill>
              </a:rPr>
              <a:t>-2 methods of coloring</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	</a:t>
            </a:r>
            <a:endParaRPr sz="1400">
              <a:solidFill>
                <a:schemeClr val="dk1"/>
              </a:solidFill>
            </a:endParaRPr>
          </a:p>
          <a:p>
            <a:pPr indent="457200" lvl="0" marL="0" rtl="0" algn="l">
              <a:lnSpc>
                <a:spcPct val="100000"/>
              </a:lnSpc>
              <a:spcBef>
                <a:spcPts val="0"/>
              </a:spcBef>
              <a:spcAft>
                <a:spcPts val="0"/>
              </a:spcAft>
              <a:buClr>
                <a:srgbClr val="000000"/>
              </a:buClr>
              <a:buSzPts val="1100"/>
              <a:buFont typeface="Arial"/>
              <a:buNone/>
            </a:pPr>
            <a:r>
              <a:rPr lang="en" sz="1400">
                <a:solidFill>
                  <a:schemeClr val="dk1"/>
                </a:solidFill>
              </a:rPr>
              <a:t>-AstroArt - simple process, as each filter was layered and pre colored in the Trichomy section</a:t>
            </a:r>
            <a:endParaRPr sz="1400">
              <a:solidFill>
                <a:schemeClr val="dk1"/>
              </a:solidFill>
            </a:endParaRPr>
          </a:p>
          <a:p>
            <a:pPr indent="0" lvl="0" marL="457200" rtl="0" algn="l">
              <a:lnSpc>
                <a:spcPct val="100000"/>
              </a:lnSpc>
              <a:spcBef>
                <a:spcPts val="0"/>
              </a:spcBef>
              <a:spcAft>
                <a:spcPts val="0"/>
              </a:spcAft>
              <a:buNone/>
            </a:pPr>
            <a:r>
              <a:rPr lang="en" sz="1400">
                <a:solidFill>
                  <a:schemeClr val="dk1"/>
                </a:solidFill>
              </a:rPr>
              <a:t>-GIMP -  a couple more steps involved, but able to play around with this option and see/do more with colors. </a:t>
            </a:r>
            <a:endParaRPr sz="1400">
              <a:solidFill>
                <a:schemeClr val="dk1"/>
              </a:solidFill>
            </a:endParaRPr>
          </a:p>
          <a:p>
            <a:pPr indent="0" lvl="0" marL="45720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-After colors were layered with the correct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RBG hues, the light curves and contrast</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 was then able to be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adjusted. </a:t>
            </a:r>
            <a:endParaRPr sz="14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-Final touches include contrast levels, </a:t>
            </a:r>
            <a:endParaRPr sz="1400">
              <a:solidFill>
                <a:schemeClr val="dk1"/>
              </a:solidFill>
            </a:endParaRPr>
          </a:p>
          <a:p>
            <a:pPr indent="0" lvl="0" marL="0" rtl="0" algn="l">
              <a:lnSpc>
                <a:spcPct val="100000"/>
              </a:lnSpc>
              <a:spcBef>
                <a:spcPts val="0"/>
              </a:spcBef>
              <a:spcAft>
                <a:spcPts val="0"/>
              </a:spcAft>
              <a:buClr>
                <a:srgbClr val="000000"/>
              </a:buClr>
              <a:buSzPts val="1100"/>
              <a:buFont typeface="Arial"/>
              <a:buNone/>
            </a:pPr>
            <a:r>
              <a:rPr lang="en" sz="1400">
                <a:solidFill>
                  <a:schemeClr val="dk1"/>
                </a:solidFill>
              </a:rPr>
              <a:t>hue exposure and color saturation</a:t>
            </a:r>
            <a:endParaRPr sz="1400">
              <a:solidFill>
                <a:schemeClr val="dk1"/>
              </a:solidFill>
            </a:endParaRPr>
          </a:p>
          <a:p>
            <a:pPr indent="0" lvl="0" marL="0" rtl="0" algn="l">
              <a:spcBef>
                <a:spcPts val="0"/>
              </a:spcBef>
              <a:spcAft>
                <a:spcPts val="1600"/>
              </a:spcAft>
              <a:buNone/>
            </a:pPr>
            <a:r>
              <a:t/>
            </a:r>
            <a:endParaRPr>
              <a:solidFill>
                <a:srgbClr val="FFFFFF"/>
              </a:solidFill>
            </a:endParaRPr>
          </a:p>
        </p:txBody>
      </p:sp>
      <p:pic>
        <p:nvPicPr>
          <p:cNvPr id="164" name="Google Shape;164;p29"/>
          <p:cNvPicPr preferRelativeResize="0"/>
          <p:nvPr/>
        </p:nvPicPr>
        <p:blipFill>
          <a:blip r:embed="rId3">
            <a:alphaModFix/>
          </a:blip>
          <a:stretch>
            <a:fillRect/>
          </a:stretch>
        </p:blipFill>
        <p:spPr>
          <a:xfrm>
            <a:off x="3733175" y="2147600"/>
            <a:ext cx="5326032" cy="29959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photos </a:t>
            </a:r>
            <a:endParaRPr/>
          </a:p>
        </p:txBody>
      </p:sp>
      <p:sp>
        <p:nvSpPr>
          <p:cNvPr id="170" name="Google Shape;170;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71" name="Google Shape;171;p30"/>
          <p:cNvPicPr preferRelativeResize="0"/>
          <p:nvPr/>
        </p:nvPicPr>
        <p:blipFill>
          <a:blip r:embed="rId3">
            <a:alphaModFix/>
          </a:blip>
          <a:stretch>
            <a:fillRect/>
          </a:stretch>
        </p:blipFill>
        <p:spPr>
          <a:xfrm>
            <a:off x="311700" y="1152475"/>
            <a:ext cx="3391177" cy="2385852"/>
          </a:xfrm>
          <a:prstGeom prst="rect">
            <a:avLst/>
          </a:prstGeom>
          <a:noFill/>
          <a:ln>
            <a:noFill/>
          </a:ln>
        </p:spPr>
      </p:pic>
      <p:pic>
        <p:nvPicPr>
          <p:cNvPr id="172" name="Google Shape;172;p30"/>
          <p:cNvPicPr preferRelativeResize="0"/>
          <p:nvPr/>
        </p:nvPicPr>
        <p:blipFill>
          <a:blip r:embed="rId4">
            <a:alphaModFix/>
          </a:blip>
          <a:stretch>
            <a:fillRect/>
          </a:stretch>
        </p:blipFill>
        <p:spPr>
          <a:xfrm>
            <a:off x="3702875" y="1152475"/>
            <a:ext cx="2680074" cy="2680074"/>
          </a:xfrm>
          <a:prstGeom prst="rect">
            <a:avLst/>
          </a:prstGeom>
          <a:noFill/>
          <a:ln>
            <a:noFill/>
          </a:ln>
        </p:spPr>
      </p:pic>
      <p:pic>
        <p:nvPicPr>
          <p:cNvPr id="173" name="Google Shape;173;p30"/>
          <p:cNvPicPr preferRelativeResize="0"/>
          <p:nvPr/>
        </p:nvPicPr>
        <p:blipFill>
          <a:blip r:embed="rId5">
            <a:alphaModFix/>
          </a:blip>
          <a:stretch>
            <a:fillRect/>
          </a:stretch>
        </p:blipFill>
        <p:spPr>
          <a:xfrm>
            <a:off x="6382950" y="1152475"/>
            <a:ext cx="2704026" cy="26299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GIMP images </a:t>
            </a:r>
            <a:endParaRPr/>
          </a:p>
        </p:txBody>
      </p:sp>
      <p:sp>
        <p:nvSpPr>
          <p:cNvPr id="179" name="Google Shape;179;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80" name="Google Shape;180;p31"/>
          <p:cNvPicPr preferRelativeResize="0"/>
          <p:nvPr/>
        </p:nvPicPr>
        <p:blipFill>
          <a:blip r:embed="rId3">
            <a:alphaModFix/>
          </a:blip>
          <a:stretch>
            <a:fillRect/>
          </a:stretch>
        </p:blipFill>
        <p:spPr>
          <a:xfrm>
            <a:off x="0" y="1069625"/>
            <a:ext cx="4564326" cy="4073871"/>
          </a:xfrm>
          <a:prstGeom prst="rect">
            <a:avLst/>
          </a:prstGeom>
          <a:noFill/>
          <a:ln>
            <a:noFill/>
          </a:ln>
        </p:spPr>
      </p:pic>
      <p:pic>
        <p:nvPicPr>
          <p:cNvPr id="181" name="Google Shape;181;p31"/>
          <p:cNvPicPr preferRelativeResize="0"/>
          <p:nvPr/>
        </p:nvPicPr>
        <p:blipFill>
          <a:blip r:embed="rId4">
            <a:alphaModFix/>
          </a:blip>
          <a:stretch>
            <a:fillRect/>
          </a:stretch>
        </p:blipFill>
        <p:spPr>
          <a:xfrm>
            <a:off x="4579675" y="1069625"/>
            <a:ext cx="4564326" cy="407387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23875" y="453425"/>
            <a:ext cx="5689500" cy="69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Andromeda Observation request</a:t>
            </a:r>
            <a:endParaRPr/>
          </a:p>
        </p:txBody>
      </p:sp>
      <p:sp>
        <p:nvSpPr>
          <p:cNvPr id="187" name="Google Shape;187;p32"/>
          <p:cNvSpPr txBox="1"/>
          <p:nvPr>
            <p:ph idx="1" type="body"/>
          </p:nvPr>
        </p:nvSpPr>
        <p:spPr>
          <a:xfrm>
            <a:off x="3314300" y="1673350"/>
            <a:ext cx="1349400" cy="208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88" name="Google Shape;188;p32"/>
          <p:cNvPicPr preferRelativeResize="0"/>
          <p:nvPr/>
        </p:nvPicPr>
        <p:blipFill rotWithShape="1">
          <a:blip r:embed="rId3">
            <a:alphaModFix/>
          </a:blip>
          <a:srcRect b="11610" l="27954" r="31944" t="17762"/>
          <a:stretch/>
        </p:blipFill>
        <p:spPr>
          <a:xfrm>
            <a:off x="1392650" y="971576"/>
            <a:ext cx="5797325" cy="4124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AstroArt w/ Andromeda: Project 3 </a:t>
            </a:r>
            <a:endParaRPr/>
          </a:p>
        </p:txBody>
      </p:sp>
      <p:sp>
        <p:nvSpPr>
          <p:cNvPr id="194" name="Google Shape;1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95" name="Google Shape;195;p33"/>
          <p:cNvPicPr preferRelativeResize="0"/>
          <p:nvPr/>
        </p:nvPicPr>
        <p:blipFill>
          <a:blip r:embed="rId3">
            <a:alphaModFix/>
          </a:blip>
          <a:stretch>
            <a:fillRect/>
          </a:stretch>
        </p:blipFill>
        <p:spPr>
          <a:xfrm>
            <a:off x="0" y="1017725"/>
            <a:ext cx="4669075" cy="2837285"/>
          </a:xfrm>
          <a:prstGeom prst="rect">
            <a:avLst/>
          </a:prstGeom>
          <a:noFill/>
          <a:ln>
            <a:noFill/>
          </a:ln>
        </p:spPr>
      </p:pic>
      <p:pic>
        <p:nvPicPr>
          <p:cNvPr id="196" name="Google Shape;196;p33"/>
          <p:cNvPicPr preferRelativeResize="0"/>
          <p:nvPr/>
        </p:nvPicPr>
        <p:blipFill>
          <a:blip r:embed="rId4">
            <a:alphaModFix/>
          </a:blip>
          <a:stretch>
            <a:fillRect/>
          </a:stretch>
        </p:blipFill>
        <p:spPr>
          <a:xfrm>
            <a:off x="4669079" y="2161200"/>
            <a:ext cx="4474926" cy="2982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Andromeda Data: Finding Reference Stars</a:t>
            </a:r>
            <a:endParaRPr/>
          </a:p>
        </p:txBody>
      </p:sp>
      <p:sp>
        <p:nvSpPr>
          <p:cNvPr id="202" name="Google Shape;202;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 </a:t>
            </a:r>
            <a:r>
              <a:rPr lang="en">
                <a:solidFill>
                  <a:srgbClr val="FFFFFF"/>
                </a:solidFill>
              </a:rPr>
              <a:t>Star Atlas</a:t>
            </a:r>
            <a:endParaRPr>
              <a:solidFill>
                <a:srgbClr val="FFFFFF"/>
              </a:solidFill>
            </a:endParaRPr>
          </a:p>
        </p:txBody>
      </p:sp>
      <p:pic>
        <p:nvPicPr>
          <p:cNvPr id="203" name="Google Shape;203;p34"/>
          <p:cNvPicPr preferRelativeResize="0"/>
          <p:nvPr/>
        </p:nvPicPr>
        <p:blipFill>
          <a:blip r:embed="rId3">
            <a:alphaModFix/>
          </a:blip>
          <a:stretch>
            <a:fillRect/>
          </a:stretch>
        </p:blipFill>
        <p:spPr>
          <a:xfrm>
            <a:off x="1590700" y="951825"/>
            <a:ext cx="7375848" cy="41489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Color I</a:t>
            </a:r>
            <a:r>
              <a:rPr lang="en"/>
              <a:t>ndices</a:t>
            </a:r>
            <a:r>
              <a:rPr lang="en"/>
              <a:t> to find temperature curve</a:t>
            </a:r>
            <a:endParaRPr/>
          </a:p>
          <a:p>
            <a:pPr indent="0" lvl="0" marL="0" rtl="0" algn="l">
              <a:spcBef>
                <a:spcPts val="0"/>
              </a:spcBef>
              <a:spcAft>
                <a:spcPts val="0"/>
              </a:spcAft>
              <a:buNone/>
            </a:pPr>
            <a:r>
              <a:t/>
            </a:r>
            <a:endParaRPr/>
          </a:p>
        </p:txBody>
      </p:sp>
      <p:sp>
        <p:nvSpPr>
          <p:cNvPr id="209" name="Google Shape;209;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en">
                <a:solidFill>
                  <a:srgbClr val="FFFFFF"/>
                </a:solidFill>
              </a:rPr>
              <a:t>Using the star atlas map on astroart we were able to set reference stars</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Using known magnitudes of those reference stars  astroart did the calculations for the magnitudes of the rest of the stars in our photo</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We did this for both the B and V filters, then calculated B-V magnitudes of those stars</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Then plugging in those values to this equation we got associated temperature values </a:t>
            </a:r>
            <a:r>
              <a:rPr lang="en" sz="1400">
                <a:solidFill>
                  <a:srgbClr val="FFFFFF"/>
                </a:solidFill>
              </a:rPr>
              <a:t>((1/(0.92*(B-V)+1.7))+(1/(0.92*(B-V)+0.62)))*4600=T </a:t>
            </a:r>
            <a:endParaRPr sz="1400">
              <a:solidFill>
                <a:srgbClr val="FFFFFF"/>
              </a:solidFill>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Analysis: Temperature vs Color </a:t>
            </a:r>
            <a:r>
              <a:rPr lang="en"/>
              <a:t>Indices</a:t>
            </a:r>
            <a:endParaRPr/>
          </a:p>
        </p:txBody>
      </p:sp>
      <p:pic>
        <p:nvPicPr>
          <p:cNvPr id="216" name="Google Shape;216;p36" title="Chart"/>
          <p:cNvPicPr preferRelativeResize="0"/>
          <p:nvPr/>
        </p:nvPicPr>
        <p:blipFill>
          <a:blip r:embed="rId3">
            <a:alphaModFix/>
          </a:blip>
          <a:stretch>
            <a:fillRect/>
          </a:stretch>
        </p:blipFill>
        <p:spPr>
          <a:xfrm>
            <a:off x="311697" y="1152475"/>
            <a:ext cx="8520600" cy="3498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0" name="Shape 220"/>
        <p:cNvGrpSpPr/>
        <p:nvPr/>
      </p:nvGrpSpPr>
      <p:grpSpPr>
        <a:xfrm>
          <a:off x="0" y="0"/>
          <a:ext cx="0" cy="0"/>
          <a:chOff x="0" y="0"/>
          <a:chExt cx="0" cy="0"/>
        </a:xfrm>
      </p:grpSpPr>
      <p:sp>
        <p:nvSpPr>
          <p:cNvPr id="221" name="Google Shape;221;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Anaylsis</a:t>
            </a:r>
            <a:endParaRPr/>
          </a:p>
        </p:txBody>
      </p:sp>
      <p:sp>
        <p:nvSpPr>
          <p:cNvPr id="222" name="Google Shape;222;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en">
                <a:solidFill>
                  <a:srgbClr val="FFFFFF"/>
                </a:solidFill>
              </a:rPr>
              <a:t>One of our goals was to </a:t>
            </a:r>
            <a:r>
              <a:rPr lang="en">
                <a:solidFill>
                  <a:srgbClr val="FFFFFF"/>
                </a:solidFill>
              </a:rPr>
              <a:t>construct</a:t>
            </a:r>
            <a:r>
              <a:rPr lang="en">
                <a:solidFill>
                  <a:srgbClr val="FFFFFF"/>
                </a:solidFill>
              </a:rPr>
              <a:t> an H-R diagram for Andromeda</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These are graphs of </a:t>
            </a:r>
            <a:r>
              <a:rPr lang="en">
                <a:solidFill>
                  <a:srgbClr val="FFFFFF"/>
                </a:solidFill>
              </a:rPr>
              <a:t>star</a:t>
            </a:r>
            <a:r>
              <a:rPr lang="en">
                <a:solidFill>
                  <a:srgbClr val="FFFFFF"/>
                </a:solidFill>
              </a:rPr>
              <a:t> </a:t>
            </a:r>
            <a:r>
              <a:rPr lang="en">
                <a:solidFill>
                  <a:srgbClr val="FFFFFF"/>
                </a:solidFill>
              </a:rPr>
              <a:t>Luminosity</a:t>
            </a:r>
            <a:r>
              <a:rPr lang="en">
                <a:solidFill>
                  <a:srgbClr val="FFFFFF"/>
                </a:solidFill>
              </a:rPr>
              <a:t>/Absolute magnitude vs temperature</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We realized we could not calculate luminosity very easily as it depends on the stars distance and radius</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Instead we can procure similar data using known a H-R diagram to compare with our own data </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All of our calculated magnitudes are apparent magnitudes but since the relative scale is the same between both apparent and absolute we can match our data to the known H-R diagram with an absolute magnitude scale</a:t>
            </a:r>
            <a:endParaRPr>
              <a:solidFill>
                <a:srgbClr val="FFFFFF"/>
              </a:solidFill>
            </a:endParaRPr>
          </a:p>
          <a:p>
            <a:pPr indent="-317500" lvl="0" marL="457200" rtl="0" algn="l">
              <a:spcBef>
                <a:spcPts val="0"/>
              </a:spcBef>
              <a:spcAft>
                <a:spcPts val="0"/>
              </a:spcAft>
              <a:buClr>
                <a:srgbClr val="FFFFFF"/>
              </a:buClr>
              <a:buSzPts val="1400"/>
              <a:buChar char="●"/>
            </a:pPr>
            <a:r>
              <a:rPr lang="en" sz="1400">
                <a:solidFill>
                  <a:srgbClr val="FFFFFF"/>
                </a:solidFill>
              </a:rPr>
              <a:t>http://web.physics.ucsb.edu/~jatila/LambdaLabs/Globulars/HRdiagramlab_JKV.pdf</a:t>
            </a:r>
            <a:endParaRPr sz="1400">
              <a:solidFill>
                <a:srgbClr val="FFFFFF"/>
              </a:solidFill>
              <a:highlight>
                <a:schemeClr val="dk1"/>
              </a:highlight>
              <a:latin typeface="Courier New"/>
              <a:ea typeface="Courier New"/>
              <a:cs typeface="Courier New"/>
              <a:sym typeface="Courier New"/>
            </a:endParaRPr>
          </a:p>
          <a:p>
            <a:pPr indent="0" lvl="0" marL="45720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Note: The apparent magnitude should be </a:t>
            </a:r>
            <a:r>
              <a:rPr lang="en" sz="1400"/>
              <a:t>inverted</a:t>
            </a:r>
            <a:r>
              <a:rPr lang="en" sz="1400"/>
              <a:t> so that it starts at 20 and goes to 0</a:t>
            </a:r>
            <a:endParaRPr sz="1400"/>
          </a:p>
        </p:txBody>
      </p:sp>
      <p:sp>
        <p:nvSpPr>
          <p:cNvPr id="228" name="Google Shape;228;p38"/>
          <p:cNvSpPr txBox="1"/>
          <p:nvPr>
            <p:ph idx="1" type="body"/>
          </p:nvPr>
        </p:nvSpPr>
        <p:spPr>
          <a:xfrm>
            <a:off x="5832000" y="1344725"/>
            <a:ext cx="3000300" cy="32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best data points lie in the region of B-V values ranging from -0.5 to 0.25 which have </a:t>
            </a:r>
            <a:r>
              <a:rPr lang="en"/>
              <a:t>corresponding</a:t>
            </a:r>
            <a:r>
              <a:rPr lang="en"/>
              <a:t> </a:t>
            </a:r>
            <a:r>
              <a:rPr lang="en"/>
              <a:t>temperatures</a:t>
            </a:r>
            <a:r>
              <a:rPr lang="en"/>
              <a:t> in the range of  ~40,000k to ~7000K</a:t>
            </a:r>
            <a:endParaRPr/>
          </a:p>
          <a:p>
            <a:pPr indent="0" lvl="0" marL="0" rtl="0" algn="l">
              <a:spcBef>
                <a:spcPts val="1600"/>
              </a:spcBef>
              <a:spcAft>
                <a:spcPts val="1600"/>
              </a:spcAft>
              <a:buNone/>
            </a:pPr>
            <a:r>
              <a:rPr lang="en"/>
              <a:t>Now we can match this up with the known H-R diagram!</a:t>
            </a:r>
            <a:endParaRPr/>
          </a:p>
        </p:txBody>
      </p:sp>
      <p:pic>
        <p:nvPicPr>
          <p:cNvPr id="229" name="Google Shape;229;p38" title="Chart"/>
          <p:cNvPicPr preferRelativeResize="0"/>
          <p:nvPr/>
        </p:nvPicPr>
        <p:blipFill>
          <a:blip r:embed="rId3">
            <a:alphaModFix/>
          </a:blip>
          <a:stretch>
            <a:fillRect/>
          </a:stretch>
        </p:blipFill>
        <p:spPr>
          <a:xfrm>
            <a:off x="311700" y="1141325"/>
            <a:ext cx="5235201" cy="3821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H-R Diagram</a:t>
            </a:r>
            <a:endParaRPr/>
          </a:p>
        </p:txBody>
      </p:sp>
      <p:sp>
        <p:nvSpPr>
          <p:cNvPr id="235" name="Google Shape;235;p39"/>
          <p:cNvSpPr txBox="1"/>
          <p:nvPr>
            <p:ph idx="1" type="body"/>
          </p:nvPr>
        </p:nvSpPr>
        <p:spPr>
          <a:xfrm>
            <a:off x="3378575" y="2567550"/>
            <a:ext cx="2496000" cy="2001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36" name="Google Shape;236;p39"/>
          <p:cNvPicPr preferRelativeResize="0"/>
          <p:nvPr/>
        </p:nvPicPr>
        <p:blipFill>
          <a:blip r:embed="rId3">
            <a:alphaModFix/>
          </a:blip>
          <a:stretch>
            <a:fillRect/>
          </a:stretch>
        </p:blipFill>
        <p:spPr>
          <a:xfrm>
            <a:off x="2512250" y="24938"/>
            <a:ext cx="4473450" cy="50936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Analysis: Other methods of distance</a:t>
            </a:r>
            <a:endParaRPr/>
          </a:p>
        </p:txBody>
      </p:sp>
      <p:sp>
        <p:nvSpPr>
          <p:cNvPr id="242" name="Google Shape;242;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rgbClr val="FFFFFF"/>
              </a:buClr>
              <a:buSzPts val="1400"/>
              <a:buChar char="-"/>
            </a:pPr>
            <a:r>
              <a:rPr lang="en" sz="1400">
                <a:solidFill>
                  <a:srgbClr val="FFFFFF"/>
                </a:solidFill>
              </a:rPr>
              <a:t>We can’t use </a:t>
            </a:r>
            <a:r>
              <a:rPr lang="en" sz="1400">
                <a:solidFill>
                  <a:srgbClr val="FFFFFF"/>
                </a:solidFill>
              </a:rPr>
              <a:t>parallax </a:t>
            </a:r>
            <a:r>
              <a:rPr lang="en" sz="1400">
                <a:solidFill>
                  <a:srgbClr val="FFFFFF"/>
                </a:solidFill>
              </a:rPr>
              <a:t>since Andromeda is too far and the arcsecond that would too small </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We can use Cepheid Variable stars to measure the distance quite accurately </a:t>
            </a:r>
            <a:endParaRPr sz="1400">
              <a:solidFill>
                <a:srgbClr val="FFFFFF"/>
              </a:solidFill>
            </a:endParaRPr>
          </a:p>
          <a:p>
            <a:pPr indent="0" lvl="0" marL="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A Cepheid variable is a type l;  ,</a:t>
            </a:r>
            <a:r>
              <a:rPr lang="en" sz="1400">
                <a:solidFill>
                  <a:srgbClr val="FFFFFF"/>
                </a:solidFill>
                <a:uFill>
                  <a:noFill/>
                </a:uFill>
                <a:hlinkClick r:id="rId3"/>
              </a:rPr>
              <a:t>star</a:t>
            </a:r>
            <a:r>
              <a:rPr lang="en" sz="1400">
                <a:solidFill>
                  <a:srgbClr val="FFFFFF"/>
                </a:solidFill>
              </a:rPr>
              <a:t> that </a:t>
            </a:r>
            <a:r>
              <a:rPr lang="en" sz="1400">
                <a:solidFill>
                  <a:srgbClr val="FFFFFF"/>
                </a:solidFill>
                <a:uFill>
                  <a:noFill/>
                </a:uFill>
                <a:hlinkClick r:id="rId4"/>
              </a:rPr>
              <a:t>pulsates radially</a:t>
            </a:r>
            <a:r>
              <a:rPr lang="en" sz="1400">
                <a:solidFill>
                  <a:srgbClr val="FFFFFF"/>
                </a:solidFill>
              </a:rPr>
              <a:t>, varying in both diameter and temperature and producing changes in brightness with a well-defined stable </a:t>
            </a:r>
            <a:r>
              <a:rPr lang="en" sz="1400">
                <a:solidFill>
                  <a:srgbClr val="FFFFFF"/>
                </a:solidFill>
                <a:uFill>
                  <a:noFill/>
                </a:uFill>
                <a:hlinkClick r:id="rId5"/>
              </a:rPr>
              <a:t>period</a:t>
            </a:r>
            <a:r>
              <a:rPr lang="en" sz="1400">
                <a:solidFill>
                  <a:srgbClr val="FFFFFF"/>
                </a:solidFill>
              </a:rPr>
              <a:t> and amplitude.</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There are Cepheid variable stars located inside Andromeda, as discovered by Edwin Hubble</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By the end of 1924, Hubble had found 36 variable stars in Andromeda, 12 of which were Cepheids.</a:t>
            </a:r>
            <a:endParaRPr sz="1400">
              <a:solidFill>
                <a:srgbClr val="FFFFFF"/>
              </a:solidFill>
            </a:endParaRPr>
          </a:p>
          <a:p>
            <a:pPr indent="0" lvl="0" marL="457200" rtl="0" algn="l">
              <a:lnSpc>
                <a:spcPct val="100000"/>
              </a:lnSpc>
              <a:spcBef>
                <a:spcPts val="0"/>
              </a:spcBef>
              <a:spcAft>
                <a:spcPts val="0"/>
              </a:spcAft>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This in turn allows one to determine the distance to the star, by comparing its known luminosity to its observed brightness.</a:t>
            </a:r>
            <a:endParaRPr sz="1400">
              <a:solidFill>
                <a:srgbClr val="FFFFFF"/>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